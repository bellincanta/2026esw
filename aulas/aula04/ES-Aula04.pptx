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88" r:id="rId3"/>
    <p:sldId id="289" r:id="rId4"/>
    <p:sldId id="295" r:id="rId5"/>
    <p:sldId id="290" r:id="rId6"/>
    <p:sldId id="291" r:id="rId7"/>
    <p:sldId id="292" r:id="rId8"/>
    <p:sldId id="297" r:id="rId9"/>
    <p:sldId id="293" r:id="rId10"/>
    <p:sldId id="298" r:id="rId11"/>
    <p:sldId id="299" r:id="rId12"/>
    <p:sldId id="300" r:id="rId13"/>
    <p:sldId id="294" r:id="rId14"/>
    <p:sldId id="301" r:id="rId15"/>
    <p:sldId id="296" r:id="rId16"/>
    <p:sldId id="257" r:id="rId17"/>
    <p:sldId id="258" r:id="rId18"/>
    <p:sldId id="260" r:id="rId19"/>
    <p:sldId id="259" r:id="rId20"/>
    <p:sldId id="261" r:id="rId21"/>
    <p:sldId id="262" r:id="rId22"/>
    <p:sldId id="263" r:id="rId23"/>
    <p:sldId id="264" r:id="rId24"/>
    <p:sldId id="285" r:id="rId25"/>
    <p:sldId id="286" r:id="rId26"/>
    <p:sldId id="287" r:id="rId27"/>
    <p:sldId id="307" r:id="rId28"/>
    <p:sldId id="308" r:id="rId29"/>
    <p:sldId id="310" r:id="rId30"/>
    <p:sldId id="309" r:id="rId31"/>
    <p:sldId id="311" r:id="rId32"/>
    <p:sldId id="312" r:id="rId33"/>
    <p:sldId id="313" r:id="rId34"/>
    <p:sldId id="314" r:id="rId35"/>
    <p:sldId id="328" r:id="rId36"/>
    <p:sldId id="316" r:id="rId37"/>
    <p:sldId id="315" r:id="rId38"/>
    <p:sldId id="317" r:id="rId39"/>
    <p:sldId id="318" r:id="rId40"/>
    <p:sldId id="319" r:id="rId41"/>
    <p:sldId id="320" r:id="rId42"/>
    <p:sldId id="321" r:id="rId43"/>
    <p:sldId id="322" r:id="rId44"/>
    <p:sldId id="323" r:id="rId45"/>
    <p:sldId id="324" r:id="rId46"/>
    <p:sldId id="325" r:id="rId47"/>
    <p:sldId id="326" r:id="rId48"/>
    <p:sldId id="327" r:id="rId49"/>
    <p:sldId id="306" r:id="rId5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08"/>
    <p:restoredTop sz="95361"/>
  </p:normalViewPr>
  <p:slideViewPr>
    <p:cSldViewPr snapToGrid="0" snapToObjects="1">
      <p:cViewPr varScale="1">
        <p:scale>
          <a:sx n="98" d="100"/>
          <a:sy n="98" d="100"/>
        </p:scale>
        <p:origin x="5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30F58-2BD2-4042-8EF9-F66062F0913F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46FA6-3661-BF41-8B08-86CA9920F9B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801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30F58-2BD2-4042-8EF9-F66062F0913F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46FA6-3661-BF41-8B08-86CA9920F9B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6130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30F58-2BD2-4042-8EF9-F66062F0913F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46FA6-3661-BF41-8B08-86CA9920F9B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7766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30F58-2BD2-4042-8EF9-F66062F0913F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46FA6-3661-BF41-8B08-86CA9920F9B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7136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30F58-2BD2-4042-8EF9-F66062F0913F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46FA6-3661-BF41-8B08-86CA9920F9B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996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30F58-2BD2-4042-8EF9-F66062F0913F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46FA6-3661-BF41-8B08-86CA9920F9B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9071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30F58-2BD2-4042-8EF9-F66062F0913F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46FA6-3661-BF41-8B08-86CA9920F9B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2582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30F58-2BD2-4042-8EF9-F66062F0913F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46FA6-3661-BF41-8B08-86CA9920F9B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800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30F58-2BD2-4042-8EF9-F66062F0913F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46FA6-3661-BF41-8B08-86CA9920F9B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808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30F58-2BD2-4042-8EF9-F66062F0913F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46FA6-3661-BF41-8B08-86CA9920F9B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0871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30F58-2BD2-4042-8EF9-F66062F0913F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46FA6-3661-BF41-8B08-86CA9920F9B0}" type="slidenum">
              <a:rPr lang="pt-BR" smtClean="0"/>
              <a:t>‹#›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032548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30F58-2BD2-4042-8EF9-F66062F0913F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46FA6-3661-BF41-8B08-86CA9920F9B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55543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30F58-2BD2-4042-8EF9-F66062F0913F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46FA6-3661-BF41-8B08-86CA9920F9B0}" type="slidenum">
              <a:rPr lang="pt-BR" smtClean="0"/>
              <a:t>‹#›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640745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30F58-2BD2-4042-8EF9-F66062F0913F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46FA6-3661-BF41-8B08-86CA9920F9B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4865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30F58-2BD2-4042-8EF9-F66062F0913F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46FA6-3661-BF41-8B08-86CA9920F9B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27047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30F58-2BD2-4042-8EF9-F66062F0913F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46FA6-3661-BF41-8B08-86CA9920F9B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6762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330F58-2BD2-4042-8EF9-F66062F0913F}" type="datetimeFigureOut">
              <a:rPr lang="pt-BR" smtClean="0"/>
              <a:t>15/09/2026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2C46FA6-3661-BF41-8B08-86CA9920F9B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3747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FD757-4BE4-424F-9EC5-13771619E2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6" y="2404534"/>
            <a:ext cx="8221133" cy="1646302"/>
          </a:xfrm>
        </p:spPr>
        <p:txBody>
          <a:bodyPr/>
          <a:lstStyle/>
          <a:p>
            <a:pPr algn="l"/>
            <a:r>
              <a:rPr lang="pt-BR" dirty="0"/>
              <a:t>Modelagem de sistemas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779E4B-F115-A64F-9C05-E500D1E79A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8221132" cy="1096899"/>
          </a:xfrm>
        </p:spPr>
        <p:txBody>
          <a:bodyPr/>
          <a:lstStyle/>
          <a:p>
            <a:r>
              <a:rPr lang="pt-BR" dirty="0"/>
              <a:t>Prof. Nelson Bellincanta Filho</a:t>
            </a:r>
          </a:p>
        </p:txBody>
      </p:sp>
    </p:spTree>
    <p:extLst>
      <p:ext uri="{BB962C8B-B14F-4D97-AF65-F5344CB8AC3E}">
        <p14:creationId xmlns:p14="http://schemas.microsoft.com/office/powerpoint/2010/main" val="4167831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F4F6C-20A5-B149-9888-4404266BB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Modelagem de sistemas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B2756-7824-3B4C-9F1C-B92E41E8D9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endParaRPr lang="pt-BR" dirty="0"/>
          </a:p>
          <a:p>
            <a:pPr algn="just"/>
            <a:endParaRPr lang="pt-BR" dirty="0"/>
          </a:p>
          <a:p>
            <a:pPr algn="just"/>
            <a:r>
              <a:rPr lang="pt-BR" dirty="0"/>
              <a:t>Processo de desenvolvimento de modelos abstratos de um sistema, em que cada modelo apresenta uma visão ou perspectiva, diferente do sistema;</a:t>
            </a:r>
          </a:p>
          <a:p>
            <a:pPr marL="0" indent="0" algn="just">
              <a:buNone/>
            </a:pPr>
            <a:endParaRPr lang="pt-BR" dirty="0"/>
          </a:p>
          <a:p>
            <a:pPr algn="just"/>
            <a:r>
              <a:rPr lang="pt-BR" dirty="0"/>
              <a:t>Representa o sistema com algum tipo de notação gráfica, quase sempre é baseada em notações de UML (linguagem de modelagem unificada, do inglês </a:t>
            </a:r>
            <a:r>
              <a:rPr lang="pt-BR" dirty="0" err="1"/>
              <a:t>Unified</a:t>
            </a:r>
            <a:r>
              <a:rPr lang="pt-BR" dirty="0"/>
              <a:t> </a:t>
            </a:r>
            <a:r>
              <a:rPr lang="pt-BR" dirty="0" err="1"/>
              <a:t>Modeling</a:t>
            </a:r>
            <a:r>
              <a:rPr lang="pt-BR" dirty="0"/>
              <a:t> </a:t>
            </a:r>
            <a:r>
              <a:rPr lang="pt-BR" dirty="0" err="1"/>
              <a:t>Language</a:t>
            </a:r>
            <a:r>
              <a:rPr lang="pt-BR" dirty="0"/>
              <a:t>);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46142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F4F6C-20A5-B149-9888-4404266BB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Modelagem de sistemas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B2756-7824-3B4C-9F1C-B92E41E8D9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endParaRPr lang="pt-BR" dirty="0"/>
          </a:p>
          <a:p>
            <a:pPr algn="just"/>
            <a:r>
              <a:rPr lang="pt-BR" dirty="0"/>
              <a:t>Os modelos são usados durante o processo de engenharia de requisitos para ajudar a extrair os requisitos do sistema;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Durante o processo de projeto, são usados para descrever o sistema para os engenheiros que o implementam;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São usados para documentar a estrutura e a operação do sistema.</a:t>
            </a:r>
          </a:p>
        </p:txBody>
      </p:sp>
    </p:spTree>
    <p:extLst>
      <p:ext uri="{BB962C8B-B14F-4D97-AF65-F5344CB8AC3E}">
        <p14:creationId xmlns:p14="http://schemas.microsoft.com/office/powerpoint/2010/main" val="749338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F4F6C-20A5-B149-9888-4404266BB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Modelagem de sistemas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B2756-7824-3B4C-9F1C-B92E41E8D9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endParaRPr lang="pt-BR" dirty="0"/>
          </a:p>
          <a:p>
            <a:pPr algn="just"/>
            <a:endParaRPr lang="pt-BR" dirty="0"/>
          </a:p>
          <a:p>
            <a:pPr algn="just"/>
            <a:r>
              <a:rPr lang="pt-BR" dirty="0"/>
              <a:t>Modelos do sistema existente são usados durante a engenharia de requisitos;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Eles ajudam a esclarecer o que o sistema existente faz e podem ser usados como ponto de partida para discutir seus pontos fortes e fracos;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Levam, então, os requisitos para o novo sistema.</a:t>
            </a:r>
          </a:p>
        </p:txBody>
      </p:sp>
    </p:spTree>
    <p:extLst>
      <p:ext uri="{BB962C8B-B14F-4D97-AF65-F5344CB8AC3E}">
        <p14:creationId xmlns:p14="http://schemas.microsoft.com/office/powerpoint/2010/main" val="1421489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F4F6C-20A5-B149-9888-4404266BB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Modelagem de sistemas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B2756-7824-3B4C-9F1C-B92E41E8D9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endParaRPr lang="pt-BR" dirty="0"/>
          </a:p>
          <a:p>
            <a:pPr algn="just"/>
            <a:r>
              <a:rPr lang="pt-BR" dirty="0"/>
              <a:t>Modelos do novo sistema são usados durante a engenharia de requisitos para ajudar a explicar os requisitos propostos para outros stakeholders do sistema;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Os engenheiros usam esses modelos para discutir propostas de projeto e documentar o sistema para a implementação;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Em um processo de engenharia dirigida a modelos, é possível gerar uma implementação completa ou parcial do sistema a partir do modelo de sistema.</a:t>
            </a:r>
          </a:p>
        </p:txBody>
      </p:sp>
    </p:spTree>
    <p:extLst>
      <p:ext uri="{BB962C8B-B14F-4D97-AF65-F5344CB8AC3E}">
        <p14:creationId xmlns:p14="http://schemas.microsoft.com/office/powerpoint/2010/main" val="2802162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F4F6C-20A5-B149-9888-4404266BB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Modelagem de sistemas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B2756-7824-3B4C-9F1C-B92E41E8D9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endParaRPr lang="pt-BR" dirty="0"/>
          </a:p>
          <a:p>
            <a:pPr algn="just"/>
            <a:r>
              <a:rPr lang="pt-BR" dirty="0"/>
              <a:t>O aspecto mais importante de um modelo de sistema é que ele deixa de fora os detalhes;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Um modelo é uma abstração do sistema a ser estudado, e não uma representação alternativa dele;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Uma representação de um sistema deve manter todas as informações sobre a entidade representada.</a:t>
            </a:r>
          </a:p>
        </p:txBody>
      </p:sp>
    </p:spTree>
    <p:extLst>
      <p:ext uri="{BB962C8B-B14F-4D97-AF65-F5344CB8AC3E}">
        <p14:creationId xmlns:p14="http://schemas.microsoft.com/office/powerpoint/2010/main" val="770891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F4F6C-20A5-B149-9888-4404266BB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Modelagem de sistemas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B2756-7824-3B4C-9F1C-B92E41E8D9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pt-BR" dirty="0"/>
              <a:t>A partir de perspectivas diferentes, é possível desenvolver diversos modelos para representar o sistema;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Uma perspectiva externa, modela o contexto ou o ambiente do sistema;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Uma perspectiva de interação, modela as interações entre um sistema e seu ambiente, ou entre os componentes de um sistema;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Uma perspectiva estrutural, modela a organização de um sistema ou a estrutura dos dados processados pelo sistema;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Uma perspectiva comportamental, modela o comportamento dinâmico do sistema e como ele reage aos eventos.</a:t>
            </a:r>
          </a:p>
        </p:txBody>
      </p:sp>
    </p:spTree>
    <p:extLst>
      <p:ext uri="{BB962C8B-B14F-4D97-AF65-F5344CB8AC3E}">
        <p14:creationId xmlns:p14="http://schemas.microsoft.com/office/powerpoint/2010/main" val="936060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9C3789D-3EE7-E94F-8CF7-D716F8E88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931988"/>
            <a:ext cx="8873065" cy="2595460"/>
          </a:xfrm>
        </p:spPr>
        <p:txBody>
          <a:bodyPr>
            <a:normAutofit/>
          </a:bodyPr>
          <a:lstStyle/>
          <a:p>
            <a:r>
              <a:rPr lang="pt-BR" dirty="0"/>
              <a:t>UML (</a:t>
            </a:r>
            <a:r>
              <a:rPr lang="pt-BR" dirty="0" err="1"/>
              <a:t>Unified</a:t>
            </a:r>
            <a:r>
              <a:rPr lang="pt-BR" dirty="0"/>
              <a:t> </a:t>
            </a:r>
            <a:r>
              <a:rPr lang="pt-BR" dirty="0" err="1"/>
              <a:t>Modeling</a:t>
            </a:r>
            <a:r>
              <a:rPr lang="pt-BR" dirty="0"/>
              <a:t> </a:t>
            </a:r>
            <a:r>
              <a:rPr lang="pt-BR" dirty="0" err="1"/>
              <a:t>Language</a:t>
            </a:r>
            <a:r>
              <a:rPr lang="pt-BR" dirty="0"/>
              <a:t>);</a:t>
            </a:r>
            <a:br>
              <a:rPr lang="pt-BR" dirty="0"/>
            </a:br>
            <a:endParaRPr lang="pt-BR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A2904E-27AF-654C-B2D7-7D4CDB0F6F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12276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F4F6C-20A5-B149-9888-4404266BB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UML (</a:t>
            </a:r>
            <a:r>
              <a:rPr lang="pt-BR" dirty="0" err="1"/>
              <a:t>Unified</a:t>
            </a:r>
            <a:r>
              <a:rPr lang="pt-BR" dirty="0"/>
              <a:t> </a:t>
            </a:r>
            <a:r>
              <a:rPr lang="pt-BR" dirty="0" err="1"/>
              <a:t>Modeling</a:t>
            </a:r>
            <a:r>
              <a:rPr lang="pt-BR" dirty="0"/>
              <a:t> </a:t>
            </a:r>
            <a:r>
              <a:rPr lang="pt-BR" dirty="0" err="1"/>
              <a:t>Language</a:t>
            </a:r>
            <a:r>
              <a:rPr lang="pt-BR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B2756-7824-3B4C-9F1C-B92E41E8D9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endParaRPr lang="pt-BR" dirty="0"/>
          </a:p>
          <a:p>
            <a:pPr algn="just"/>
            <a:r>
              <a:rPr lang="pt-BR" dirty="0"/>
              <a:t>A Linguagem de Modelagem Unificada (UML) é uma linguagem gráfica e notacional utilizada na engenharia de software para representar, visualizar, especificar e documentar sistemas complexos;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Ela fornece um conjunto padronizado de diagramas e símbolos que permitem aos profissionais da área de software comunicar ideias, conceitos e informações sobre sistemas de forma clara e compreensível;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Sua versão mais recente é a UML 2.5.1.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949859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F4F6C-20A5-B149-9888-4404266BB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UML (</a:t>
            </a:r>
            <a:r>
              <a:rPr lang="pt-BR" dirty="0" err="1"/>
              <a:t>Unified</a:t>
            </a:r>
            <a:r>
              <a:rPr lang="pt-BR" dirty="0"/>
              <a:t> </a:t>
            </a:r>
            <a:r>
              <a:rPr lang="pt-BR" dirty="0" err="1"/>
              <a:t>Modeling</a:t>
            </a:r>
            <a:r>
              <a:rPr lang="pt-BR" dirty="0"/>
              <a:t> </a:t>
            </a:r>
            <a:r>
              <a:rPr lang="pt-BR" dirty="0" err="1"/>
              <a:t>Language</a:t>
            </a:r>
            <a:r>
              <a:rPr lang="pt-BR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B2756-7824-3B4C-9F1C-B92E41E8D9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endParaRPr lang="pt-BR" dirty="0"/>
          </a:p>
          <a:p>
            <a:pPr algn="just"/>
            <a:r>
              <a:rPr lang="pt-BR" dirty="0"/>
              <a:t>A UML 2.5.1 inclui 14 tipos principais de diagramas que permitem representar diferentes aspectos de sistemas e processos de software;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Esses diagramas são divididos em duas categorias principais: </a:t>
            </a:r>
          </a:p>
          <a:p>
            <a:pPr algn="just"/>
            <a:endParaRPr lang="pt-BR" dirty="0"/>
          </a:p>
          <a:p>
            <a:pPr lvl="1" algn="just"/>
            <a:r>
              <a:rPr lang="pt-BR" dirty="0"/>
              <a:t>Diagramas de estrutura; e </a:t>
            </a:r>
          </a:p>
          <a:p>
            <a:pPr lvl="1" algn="just"/>
            <a:r>
              <a:rPr lang="pt-BR" dirty="0"/>
              <a:t>Diagramas de comportamento.</a:t>
            </a:r>
          </a:p>
          <a:p>
            <a:pPr algn="just"/>
            <a:endParaRPr lang="pt-BR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814569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F4F6C-20A5-B149-9888-4404266BB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UML (</a:t>
            </a:r>
            <a:r>
              <a:rPr lang="pt-BR" dirty="0" err="1"/>
              <a:t>Unified</a:t>
            </a:r>
            <a:r>
              <a:rPr lang="pt-BR" dirty="0"/>
              <a:t> </a:t>
            </a:r>
            <a:r>
              <a:rPr lang="pt-BR" dirty="0" err="1"/>
              <a:t>Modeling</a:t>
            </a:r>
            <a:r>
              <a:rPr lang="pt-BR" dirty="0"/>
              <a:t> </a:t>
            </a:r>
            <a:r>
              <a:rPr lang="pt-BR" dirty="0" err="1"/>
              <a:t>Language</a:t>
            </a:r>
            <a:r>
              <a:rPr lang="pt-BR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B2756-7824-3B4C-9F1C-B92E41E8D9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endParaRPr lang="pt-BR" dirty="0"/>
          </a:p>
          <a:p>
            <a:pPr algn="just"/>
            <a:r>
              <a:rPr lang="pt-BR" dirty="0"/>
              <a:t>Diagramas de Estrutura:</a:t>
            </a:r>
          </a:p>
          <a:p>
            <a:pPr algn="just"/>
            <a:endParaRPr lang="pt-BR" dirty="0"/>
          </a:p>
          <a:p>
            <a:pPr lvl="1" algn="just"/>
            <a:r>
              <a:rPr lang="pt-BR" dirty="0"/>
              <a:t>Diagrama de Classe;</a:t>
            </a:r>
          </a:p>
          <a:p>
            <a:pPr lvl="1" algn="just"/>
            <a:r>
              <a:rPr lang="pt-BR" dirty="0"/>
              <a:t>Diagrama de Componentes;</a:t>
            </a:r>
          </a:p>
          <a:p>
            <a:pPr lvl="1" algn="just"/>
            <a:r>
              <a:rPr lang="pt-BR" dirty="0"/>
              <a:t>Diagrama de Objetos;</a:t>
            </a:r>
          </a:p>
          <a:p>
            <a:pPr lvl="1" algn="just"/>
            <a:r>
              <a:rPr lang="pt-BR" dirty="0"/>
              <a:t>Diagrama de Pacotes;</a:t>
            </a:r>
          </a:p>
          <a:p>
            <a:pPr lvl="1" algn="just"/>
            <a:r>
              <a:rPr lang="pt-BR" dirty="0"/>
              <a:t>Diagrama de Estrutura Composta;</a:t>
            </a:r>
          </a:p>
          <a:p>
            <a:pPr lvl="1" algn="just"/>
            <a:r>
              <a:rPr lang="pt-BR" dirty="0"/>
              <a:t>Diagrama de Implantação.</a:t>
            </a:r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117540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F4F6C-20A5-B149-9888-4404266BB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UML (</a:t>
            </a:r>
            <a:r>
              <a:rPr lang="pt-BR" dirty="0" err="1"/>
              <a:t>Unified</a:t>
            </a:r>
            <a:r>
              <a:rPr lang="pt-BR" dirty="0"/>
              <a:t> </a:t>
            </a:r>
            <a:r>
              <a:rPr lang="pt-BR" dirty="0" err="1"/>
              <a:t>Modeling</a:t>
            </a:r>
            <a:r>
              <a:rPr lang="pt-BR" dirty="0"/>
              <a:t> </a:t>
            </a:r>
            <a:r>
              <a:rPr lang="pt-BR" dirty="0" err="1"/>
              <a:t>Language</a:t>
            </a:r>
            <a:r>
              <a:rPr lang="pt-BR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B2756-7824-3B4C-9F1C-B92E41E8D9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endParaRPr lang="pt-BR" dirty="0"/>
          </a:p>
          <a:p>
            <a:pPr algn="just"/>
            <a:r>
              <a:rPr lang="pt-BR" dirty="0"/>
              <a:t>Diagramas de Comportamento:</a:t>
            </a:r>
          </a:p>
          <a:p>
            <a:pPr algn="just"/>
            <a:endParaRPr lang="pt-BR" dirty="0"/>
          </a:p>
          <a:p>
            <a:pPr lvl="1" algn="just"/>
            <a:r>
              <a:rPr lang="pt-BR" dirty="0"/>
              <a:t>Diagrama de Caso de Uso;</a:t>
            </a:r>
          </a:p>
          <a:p>
            <a:pPr lvl="1" algn="just"/>
            <a:r>
              <a:rPr lang="pt-BR" dirty="0"/>
              <a:t>Diagrama de Sequência;</a:t>
            </a:r>
          </a:p>
          <a:p>
            <a:pPr lvl="1" algn="just"/>
            <a:r>
              <a:rPr lang="pt-BR" dirty="0"/>
              <a:t>Diagrama de Comunicação;</a:t>
            </a:r>
          </a:p>
          <a:p>
            <a:pPr lvl="1" algn="just"/>
            <a:r>
              <a:rPr lang="pt-BR" dirty="0"/>
              <a:t>Diagrama de Estado;</a:t>
            </a:r>
          </a:p>
          <a:p>
            <a:pPr lvl="1" algn="just"/>
            <a:r>
              <a:rPr lang="pt-BR" dirty="0"/>
              <a:t>Diagrama de Atividades;</a:t>
            </a:r>
          </a:p>
          <a:p>
            <a:pPr lvl="1" algn="just"/>
            <a:r>
              <a:rPr lang="pt-BR" dirty="0"/>
              <a:t>Diagrama de Máquina de Estados;</a:t>
            </a:r>
          </a:p>
          <a:p>
            <a:pPr lvl="1" algn="just"/>
            <a:r>
              <a:rPr lang="pt-BR" dirty="0"/>
              <a:t>Diagrama de Tempo.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572330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F4F6C-20A5-B149-9888-4404266BB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UML (</a:t>
            </a:r>
            <a:r>
              <a:rPr lang="pt-BR" dirty="0" err="1"/>
              <a:t>Unified</a:t>
            </a:r>
            <a:r>
              <a:rPr lang="pt-BR" dirty="0"/>
              <a:t> </a:t>
            </a:r>
            <a:r>
              <a:rPr lang="pt-BR" dirty="0" err="1"/>
              <a:t>Modeling</a:t>
            </a:r>
            <a:r>
              <a:rPr lang="pt-BR" dirty="0"/>
              <a:t> </a:t>
            </a:r>
            <a:r>
              <a:rPr lang="pt-BR" dirty="0" err="1"/>
              <a:t>Language</a:t>
            </a:r>
            <a:r>
              <a:rPr lang="pt-BR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B2756-7824-3B4C-9F1C-B92E41E8D9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endParaRPr lang="pt-BR" dirty="0"/>
          </a:p>
          <a:p>
            <a:pPr algn="just"/>
            <a:r>
              <a:rPr lang="pt-BR" dirty="0"/>
              <a:t>O trabalho de pesquisa de ERICKSON e SIAU (2007),  mostrou que a maioria dos usuários de UML acredita que cinco tipos de diagramas podem representar a essência de um sistema;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De acordo com os autores da pesquisa os diagramas são:</a:t>
            </a:r>
          </a:p>
          <a:p>
            <a:pPr algn="just"/>
            <a:endParaRPr lang="pt-BR" dirty="0"/>
          </a:p>
          <a:p>
            <a:pPr lvl="1" algn="just"/>
            <a:r>
              <a:rPr lang="pt-BR" dirty="0"/>
              <a:t>Diagramas de casos de uso, que mostram as interações entre um sistema e seu ambiente;</a:t>
            </a:r>
          </a:p>
          <a:p>
            <a:pPr lvl="1" algn="just"/>
            <a:endParaRPr lang="pt-BR" dirty="0"/>
          </a:p>
          <a:p>
            <a:pPr lvl="1" algn="just"/>
            <a:r>
              <a:rPr lang="pt-BR" dirty="0"/>
              <a:t>Diagramas de sequência, que mostram as interações entre os atores e o sistema, e entre os componentes do sistema;</a:t>
            </a:r>
          </a:p>
          <a:p>
            <a:pPr algn="just"/>
            <a:endParaRPr lang="pt-BR" dirty="0"/>
          </a:p>
          <a:p>
            <a:pPr algn="just"/>
            <a:endParaRPr lang="pt-BR" dirty="0"/>
          </a:p>
          <a:p>
            <a:pPr algn="just"/>
            <a:endParaRPr lang="pt-BR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168864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F4F6C-20A5-B149-9888-4404266BB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UML (</a:t>
            </a:r>
            <a:r>
              <a:rPr lang="pt-BR" dirty="0" err="1"/>
              <a:t>Unified</a:t>
            </a:r>
            <a:r>
              <a:rPr lang="pt-BR" dirty="0"/>
              <a:t> </a:t>
            </a:r>
            <a:r>
              <a:rPr lang="pt-BR" dirty="0" err="1"/>
              <a:t>Modeling</a:t>
            </a:r>
            <a:r>
              <a:rPr lang="pt-BR" dirty="0"/>
              <a:t> </a:t>
            </a:r>
            <a:r>
              <a:rPr lang="pt-BR" dirty="0" err="1"/>
              <a:t>Language</a:t>
            </a:r>
            <a:r>
              <a:rPr lang="pt-BR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B2756-7824-3B4C-9F1C-B92E41E8D9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endParaRPr lang="pt-BR" dirty="0"/>
          </a:p>
          <a:p>
            <a:pPr algn="just"/>
            <a:r>
              <a:rPr lang="pt-BR" dirty="0"/>
              <a:t>Diagramas de atividades, que mostram as atividades envolvidas em um processo ou no processamento de dados;</a:t>
            </a:r>
          </a:p>
          <a:p>
            <a:pPr marL="0" indent="0" algn="just">
              <a:buNone/>
            </a:pPr>
            <a:endParaRPr lang="pt-BR" dirty="0"/>
          </a:p>
          <a:p>
            <a:pPr algn="just"/>
            <a:r>
              <a:rPr lang="pt-BR" dirty="0"/>
              <a:t>Diagramas de classe, que mostram as classes de objeto no sistema e as associações entre elas;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Diagramas de estado, que mostram como o sistema reage aos eventos internos e externos.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486705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9AACF-BBFE-5D43-A7CB-50EA45652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Diagrama de casos de uso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C9EB8F-316F-BD4B-8C45-B1DB5E74B7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13892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FC21DE6-1DD6-7E4A-8E76-2059142D0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Diagrama de casos de uso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C50E48E-609C-4D4C-B83D-FD1A613B7D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O diagrama de casos de uso (use case </a:t>
            </a:r>
            <a:r>
              <a:rPr lang="pt-BR" dirty="0" err="1"/>
              <a:t>diagram</a:t>
            </a:r>
            <a:r>
              <a:rPr lang="pt-BR" dirty="0"/>
              <a:t>) é, dentre todos os diagramas da UML, o mais abstrato, flexível e informal. 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É utilizado, principalmente, no início da modelagem do sistema, a partir do documento de requisitos, e pode ser consultado e possivelmente modificado durante todo o processo de engenharia. 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Seu objetivo é o de modelar as funcionalidades e serviços oferecidos pelo sistema, buscando, por meio de uma linguagem simples, demonstrar o comportamento externo do sistema a partir da perspectiva do usuário.</a:t>
            </a:r>
          </a:p>
        </p:txBody>
      </p:sp>
    </p:spTree>
    <p:extLst>
      <p:ext uri="{BB962C8B-B14F-4D97-AF65-F5344CB8AC3E}">
        <p14:creationId xmlns:p14="http://schemas.microsoft.com/office/powerpoint/2010/main" val="15842811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55725-10D1-5E4E-A3AE-7C6194DEC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Diagrama de casos de uso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DE876-AAF9-C349-8B87-0A84566A8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  <a:p>
            <a:r>
              <a:rPr lang="pt-BR" dirty="0"/>
              <a:t>Há uma correspondência entre os requisitos funcionais previstos para o software e os casos de uso;</a:t>
            </a:r>
          </a:p>
          <a:p>
            <a:endParaRPr lang="pt-BR" dirty="0"/>
          </a:p>
          <a:p>
            <a:r>
              <a:rPr lang="pt-BR" dirty="0"/>
              <a:t>Os requisitos não funcionais não aparecem no diagrama de casos de uso, pois não constituem o foco da modelagem que sendo realizada;</a:t>
            </a:r>
          </a:p>
          <a:p>
            <a:endParaRPr lang="pt-BR" dirty="0"/>
          </a:p>
          <a:p>
            <a:r>
              <a:rPr lang="pt-BR" dirty="0"/>
              <a:t>O diagrama de casos de uso é composto por atores, casos de uso e seus relacionamentos. </a:t>
            </a:r>
          </a:p>
        </p:txBody>
      </p:sp>
    </p:spTree>
    <p:extLst>
      <p:ext uri="{BB962C8B-B14F-4D97-AF65-F5344CB8AC3E}">
        <p14:creationId xmlns:p14="http://schemas.microsoft.com/office/powerpoint/2010/main" val="21415211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80D9C99-CDA9-D342-91F0-A32EE52E5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Atores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83BBE9-3FF1-3547-A4B6-3A35B2413D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75700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55725-10D1-5E4E-A3AE-7C6194DEC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Atores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DE876-AAF9-C349-8B87-0A84566A8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pt-BR" dirty="0"/>
          </a:p>
          <a:p>
            <a:pPr algn="just"/>
            <a:r>
              <a:rPr lang="pt-BR" dirty="0"/>
              <a:t>Um ator representa um papel que um ser humano, um dispositivo de hardware ou até mesmo outro sistema desempenha com o sistema;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Um ator pode ser qualquer elemento externo que interage com o software; 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O nome do ator identifica qual é o papel assumido por ele dentro do diagrama;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Um caso de uso é sempre iniciado por um estímulo de um ator e, ocasionalmente, outros atores também podem participar.</a:t>
            </a:r>
          </a:p>
        </p:txBody>
      </p:sp>
    </p:spTree>
    <p:extLst>
      <p:ext uri="{BB962C8B-B14F-4D97-AF65-F5344CB8AC3E}">
        <p14:creationId xmlns:p14="http://schemas.microsoft.com/office/powerpoint/2010/main" val="14452085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55725-10D1-5E4E-A3AE-7C6194DEC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Atores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393C778-2EF1-7247-95AD-E1472C314E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3963" y="2287880"/>
            <a:ext cx="8596312" cy="263972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E207C17-F63F-F447-8E48-4D2CFE82EE71}"/>
              </a:ext>
            </a:extLst>
          </p:cNvPr>
          <p:cNvSpPr txBox="1"/>
          <p:nvPr/>
        </p:nvSpPr>
        <p:spPr>
          <a:xfrm>
            <a:off x="3836574" y="4927601"/>
            <a:ext cx="2278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Exemplos de atores.</a:t>
            </a:r>
          </a:p>
        </p:txBody>
      </p:sp>
    </p:spTree>
    <p:extLst>
      <p:ext uri="{BB962C8B-B14F-4D97-AF65-F5344CB8AC3E}">
        <p14:creationId xmlns:p14="http://schemas.microsoft.com/office/powerpoint/2010/main" val="8944554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80D9C99-CDA9-D342-91F0-A32EE52E5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CASOS DE USO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83BBE9-3FF1-3547-A4B6-3A35B2413D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71238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55725-10D1-5E4E-A3AE-7C6194DEC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Casos de uso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DE876-AAF9-C349-8B87-0A84566A8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Um caso de uso especifica o comportamento de um sistema ou de parte de um, referindo-se a serviços, tarefas ou funções apresentadas.</a:t>
            </a:r>
          </a:p>
          <a:p>
            <a:endParaRPr lang="pt-B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F0AADD-925C-6E44-8805-7CA6C6FB6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334" y="3216967"/>
            <a:ext cx="7552266" cy="176801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3608045-5239-8044-AC13-63DAF38878A0}"/>
              </a:ext>
            </a:extLst>
          </p:cNvPr>
          <p:cNvSpPr txBox="1"/>
          <p:nvPr/>
        </p:nvSpPr>
        <p:spPr>
          <a:xfrm>
            <a:off x="3801458" y="5004480"/>
            <a:ext cx="2912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﻿Exemplos de casos de uso.</a:t>
            </a:r>
          </a:p>
        </p:txBody>
      </p:sp>
    </p:spTree>
    <p:extLst>
      <p:ext uri="{BB962C8B-B14F-4D97-AF65-F5344CB8AC3E}">
        <p14:creationId xmlns:p14="http://schemas.microsoft.com/office/powerpoint/2010/main" val="31404412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55725-10D1-5E4E-A3AE-7C6194DEC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Casos de uso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DE876-AAF9-C349-8B87-0A84566A8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endParaRPr lang="pt-BR" dirty="0"/>
          </a:p>
          <a:p>
            <a:pPr algn="just"/>
            <a:r>
              <a:rPr lang="pt-BR" dirty="0"/>
              <a:t>Normalmente, os nomes de casos de uso são breves expressões verbais ativas;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Nomeando algum comportamento encontrado no vocabulário do sistema cuja modelagem está sendo realizada a partir do documento de requisitos;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São verbos que podem ser usados para nomear os casos de uso: efetuar, cadastrar, consultar, emitir, registrar, realizar, manter, verificar, entre outros.</a:t>
            </a:r>
          </a:p>
        </p:txBody>
      </p:sp>
    </p:spTree>
    <p:extLst>
      <p:ext uri="{BB962C8B-B14F-4D97-AF65-F5344CB8AC3E}">
        <p14:creationId xmlns:p14="http://schemas.microsoft.com/office/powerpoint/2010/main" val="28406324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F4F6C-20A5-B149-9888-4404266BB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Casos de uso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B2756-7824-3B4C-9F1C-B92E41E8D9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endParaRPr lang="pt-BR" dirty="0"/>
          </a:p>
          <a:p>
            <a:pPr algn="just"/>
            <a:r>
              <a:rPr lang="pt-BR" dirty="0"/>
              <a:t>Em sua forma mais simples, um caso de uso é mostrado como uma elipse, com os atores envolvidos representados por figuras-palito;</a:t>
            </a:r>
          </a:p>
          <a:p>
            <a:pPr algn="just"/>
            <a:endParaRPr lang="pt-BR" dirty="0"/>
          </a:p>
          <a:p>
            <a:pPr algn="just"/>
            <a:endParaRPr lang="pt-BR" dirty="0"/>
          </a:p>
          <a:p>
            <a:pPr marL="0" indent="0" algn="just">
              <a:buNone/>
            </a:pPr>
            <a:endParaRPr lang="pt-B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F12EF3-8BB0-E548-9C53-3A9BE3CEB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6838" y="3886200"/>
            <a:ext cx="5877122" cy="11590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E43564B-3795-2642-8819-C79918F5AFB5}"/>
              </a:ext>
            </a:extLst>
          </p:cNvPr>
          <p:cNvSpPr txBox="1"/>
          <p:nvPr/>
        </p:nvSpPr>
        <p:spPr>
          <a:xfrm>
            <a:off x="3183045" y="5045299"/>
            <a:ext cx="3844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Caso de uso de transferência de dados.</a:t>
            </a:r>
          </a:p>
        </p:txBody>
      </p:sp>
    </p:spTree>
    <p:extLst>
      <p:ext uri="{BB962C8B-B14F-4D97-AF65-F5344CB8AC3E}">
        <p14:creationId xmlns:p14="http://schemas.microsoft.com/office/powerpoint/2010/main" val="30478121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F4F6C-20A5-B149-9888-4404266BB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Casos de uso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B2756-7824-3B4C-9F1C-B92E41E8D9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endParaRPr lang="pt-BR" dirty="0"/>
          </a:p>
          <a:p>
            <a:pPr algn="just"/>
            <a:r>
              <a:rPr lang="pt-BR" dirty="0"/>
              <a:t>Diagramas de casos de uso dão uma visão simples de uma interação;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Logo, é necessário fornecer mais detalhes para entender o que está envolvido;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Esses detalhes podem ser uma simples descrição textual, uma descrição estruturada em uma tabela ou um diagrama de sequência.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617357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F4F6C-20A5-B149-9888-4404266BB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Casos de uso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B2756-7824-3B4C-9F1C-B92E41E8D9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endParaRPr lang="pt-BR" dirty="0"/>
          </a:p>
          <a:p>
            <a:pPr algn="just"/>
            <a:endParaRPr lang="pt-B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8F5D61-0C89-6C49-8059-A3ECC6632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0" y="2413000"/>
            <a:ext cx="7480300" cy="2032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FC16C55-9A8D-0E44-BC05-F553DAC6583D}"/>
              </a:ext>
            </a:extLst>
          </p:cNvPr>
          <p:cNvSpPr txBox="1"/>
          <p:nvPr/>
        </p:nvSpPr>
        <p:spPr>
          <a:xfrm>
            <a:off x="2503324" y="4675189"/>
            <a:ext cx="4944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Descrição tabular do caso de uso ‘Transferir dados’</a:t>
            </a:r>
          </a:p>
        </p:txBody>
      </p:sp>
    </p:spTree>
    <p:extLst>
      <p:ext uri="{BB962C8B-B14F-4D97-AF65-F5344CB8AC3E}">
        <p14:creationId xmlns:p14="http://schemas.microsoft.com/office/powerpoint/2010/main" val="32472091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CD4B9-26F9-5340-BA1A-DE1700ACC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Relacionamento entre Casos de Uso e Atores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BEE6C9-D4A8-4A48-A1F2-CC3538AAC5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07647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BE809-77DC-E945-BF74-2786683AD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Relacionamento entre Casos de Uso e Atores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2C8631-9B28-5B4D-8E2D-95EEA82ADF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/>
              <a:t>Os casos de uso representam conjuntos bem definidos de funcionalidades do sistema, os quais precisam se relacionar com outros casos de uso e com atores que enviaram e receberam mensagens deles;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Os casos de uso podem ter relacionamentos de associação, generalização, extensão e inclusão da seguinte forma:</a:t>
            </a:r>
          </a:p>
          <a:p>
            <a:pPr algn="just"/>
            <a:endParaRPr lang="pt-BR" dirty="0"/>
          </a:p>
          <a:p>
            <a:pPr lvl="1" algn="just"/>
            <a:r>
              <a:rPr lang="pt-BR" dirty="0"/>
              <a:t>Para relacionamentos entre atores e casos de uso: somente associação;</a:t>
            </a:r>
          </a:p>
          <a:p>
            <a:pPr lvl="1" algn="just"/>
            <a:r>
              <a:rPr lang="pt-BR" dirty="0"/>
              <a:t>Para relacionamentos de atores entre si: somente generalização;</a:t>
            </a:r>
          </a:p>
          <a:p>
            <a:pPr lvl="1" algn="just"/>
            <a:r>
              <a:rPr lang="pt-BR" dirty="0"/>
              <a:t>Para relacionamentos de casos de uso entre si: generalização, extensão e inclusão.</a:t>
            </a:r>
          </a:p>
        </p:txBody>
      </p:sp>
    </p:spTree>
    <p:extLst>
      <p:ext uri="{BB962C8B-B14F-4D97-AF65-F5344CB8AC3E}">
        <p14:creationId xmlns:p14="http://schemas.microsoft.com/office/powerpoint/2010/main" val="5806879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76454-DF2A-C841-A4F6-53C908DB4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Associação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12A3D8-EDC0-464C-874C-60F5032CA3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99156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BE809-77DC-E945-BF74-2786683AD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Associação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2C8631-9B28-5B4D-8E2D-95EEA82ADF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pt-BR" dirty="0"/>
              <a:t>A associação é o único relacionamento possível entre ator e caso de uso e sempre é binária, ou seja, envolve apenas dois elementos;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Um relacionamento de associação demonstra que o ator utiliza a funcionalidade representada pelo caso de uso;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Esse tipo de relacionamento é representado por uma reta ligando o ator ao caso de uso. 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Pode ser que essa reta possua, em sua extremidade, uma seta, que indica a navegabilidade dessa associação, ou seja, se as informações são fornecidas pelo ator em caso de uso (nesse caso, a seta aponta para o caso de uso), se são transmitidas pelo caso de uso ao ator (nesse caso, a seta aponta para o ator) ou ambos (a reta não possui setas).</a:t>
            </a:r>
          </a:p>
        </p:txBody>
      </p:sp>
    </p:spTree>
    <p:extLst>
      <p:ext uri="{BB962C8B-B14F-4D97-AF65-F5344CB8AC3E}">
        <p14:creationId xmlns:p14="http://schemas.microsoft.com/office/powerpoint/2010/main" val="15503147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BE809-77DC-E945-BF74-2786683AD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Associação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80F2E18-495F-3B45-BC37-241BD82B64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1602" y="2527300"/>
            <a:ext cx="7772400" cy="25273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4E09FDD-5880-1740-BC88-03EA8BCA4EE6}"/>
              </a:ext>
            </a:extLst>
          </p:cNvPr>
          <p:cNvSpPr txBox="1"/>
          <p:nvPr/>
        </p:nvSpPr>
        <p:spPr>
          <a:xfrm>
            <a:off x="3023212" y="5067300"/>
            <a:ext cx="4729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Associação entre um ator e um caso de uso.</a:t>
            </a:r>
          </a:p>
        </p:txBody>
      </p:sp>
    </p:spTree>
    <p:extLst>
      <p:ext uri="{BB962C8B-B14F-4D97-AF65-F5344CB8AC3E}">
        <p14:creationId xmlns:p14="http://schemas.microsoft.com/office/powerpoint/2010/main" val="18731726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2F4C9-98C0-BC48-A4FF-6548B1C36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Associação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64CB8-1C3E-1048-A864-97DD81FA88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5FE8A1-62E5-A044-8E0E-D0E1A24383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1444" y="2191278"/>
            <a:ext cx="6868448" cy="256743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5E11146-986F-4C4B-8CAC-4132FC283C8E}"/>
              </a:ext>
            </a:extLst>
          </p:cNvPr>
          <p:cNvSpPr txBox="1"/>
          <p:nvPr/>
        </p:nvSpPr>
        <p:spPr>
          <a:xfrm>
            <a:off x="2917998" y="4758717"/>
            <a:ext cx="4729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Associação entre um ator e um caso de uso.</a:t>
            </a:r>
          </a:p>
        </p:txBody>
      </p:sp>
    </p:spTree>
    <p:extLst>
      <p:ext uri="{BB962C8B-B14F-4D97-AF65-F5344CB8AC3E}">
        <p14:creationId xmlns:p14="http://schemas.microsoft.com/office/powerpoint/2010/main" val="7156995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25D88-2C50-AE4A-A4FB-CCE880F7C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Associação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CEBD469-CBB7-D043-8ECA-E8181C901E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8918" y="1930400"/>
            <a:ext cx="7121645" cy="24003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0E76B70-8CF6-C74B-A18E-B3797648F292}"/>
              </a:ext>
            </a:extLst>
          </p:cNvPr>
          <p:cNvSpPr txBox="1"/>
          <p:nvPr/>
        </p:nvSpPr>
        <p:spPr>
          <a:xfrm>
            <a:off x="2965150" y="4558269"/>
            <a:ext cx="4729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Associação entre um ator e um caso de uso.</a:t>
            </a:r>
          </a:p>
        </p:txBody>
      </p:sp>
    </p:spTree>
    <p:extLst>
      <p:ext uri="{BB962C8B-B14F-4D97-AF65-F5344CB8AC3E}">
        <p14:creationId xmlns:p14="http://schemas.microsoft.com/office/powerpoint/2010/main" val="17957805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A082AF1-BF12-FC4A-B649-D6C182F5B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Generalização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67A0DC-56F3-154B-9F8E-45E9B71433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99033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25EE6E7-5F17-F843-919D-09185346FC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6600" y="944755"/>
            <a:ext cx="6654800" cy="5341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939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96BDF-F457-E94C-A5CD-50430EED6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Generalização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6F224-EE6B-3E4E-9B2A-7EDC60CB88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endParaRPr lang="pt-BR" dirty="0"/>
          </a:p>
          <a:p>
            <a:pPr algn="just"/>
            <a:r>
              <a:rPr lang="pt-BR" dirty="0"/>
              <a:t>O relacionamento de generalização entre casos de uso pode ocorrer quando existirem dois ou mais casos de usos com características semelhantes, apresentando pequenas diferenças entre si;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Quando isso acontece, define-se um caso de uso geral, o qual deverá possuir as características compartilhadas por todos os casos de uso em questão;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Relacionando esse caso de uso geral com os casos de uso específicos, os quais devem conter somente a documentação das características específicas de cada um deles.</a:t>
            </a:r>
          </a:p>
        </p:txBody>
      </p:sp>
    </p:spTree>
    <p:extLst>
      <p:ext uri="{BB962C8B-B14F-4D97-AF65-F5344CB8AC3E}">
        <p14:creationId xmlns:p14="http://schemas.microsoft.com/office/powerpoint/2010/main" val="24951068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9D4D755-B648-654C-94E7-18C9758D8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Generalização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827D9CF-0482-A54E-A295-F3D19B7B62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44314" y="1830388"/>
            <a:ext cx="5862707" cy="388143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A665A68-633A-4043-B35D-990CC6024AC1}"/>
              </a:ext>
            </a:extLst>
          </p:cNvPr>
          <p:cNvSpPr txBox="1"/>
          <p:nvPr/>
        </p:nvSpPr>
        <p:spPr>
          <a:xfrm>
            <a:off x="2501271" y="5879068"/>
            <a:ext cx="49487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Exemplo de generalização entre casos de uso.</a:t>
            </a:r>
          </a:p>
        </p:txBody>
      </p:sp>
    </p:spTree>
    <p:extLst>
      <p:ext uri="{BB962C8B-B14F-4D97-AF65-F5344CB8AC3E}">
        <p14:creationId xmlns:p14="http://schemas.microsoft.com/office/powerpoint/2010/main" val="76818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8B1B3-3F1A-4D4F-AD51-BEEAD05BA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Generalização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ADCB49-4A0F-6642-9655-3087A55E41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335E00-5D26-0344-B9AA-3315AFA355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4727" y="2160589"/>
            <a:ext cx="4581882" cy="37401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143397F-E16C-2B45-9ACD-50361906600A}"/>
              </a:ext>
            </a:extLst>
          </p:cNvPr>
          <p:cNvSpPr txBox="1"/>
          <p:nvPr/>
        </p:nvSpPr>
        <p:spPr>
          <a:xfrm>
            <a:off x="3433418" y="6130928"/>
            <a:ext cx="3084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Generalização entre atores.</a:t>
            </a:r>
          </a:p>
        </p:txBody>
      </p:sp>
    </p:spTree>
    <p:extLst>
      <p:ext uri="{BB962C8B-B14F-4D97-AF65-F5344CB8AC3E}">
        <p14:creationId xmlns:p14="http://schemas.microsoft.com/office/powerpoint/2010/main" val="14252648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A082AF1-BF12-FC4A-B649-D6C182F5B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﻿Inclusão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67A0DC-56F3-154B-9F8E-45E9B71433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30447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1898B02-BFF8-884C-8730-98C74F679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Inclusão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4BAF6F4-6812-A345-A003-E44E1E0E75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endParaRPr lang="pt-BR" dirty="0"/>
          </a:p>
          <a:p>
            <a:pPr algn="just"/>
            <a:r>
              <a:rPr lang="pt-BR" dirty="0"/>
              <a:t>Possível somente entre casos de uso;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Utilizado quando existem ações comuns a mais de um caso de uso;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A documentação dessas ações é colocada em um caso de uso específico permitindo que outros casos se utilizem dessas ações, evitando a descrição de uma mesma sequência de passos em vários casos de uso.</a:t>
            </a:r>
          </a:p>
        </p:txBody>
      </p:sp>
    </p:spTree>
    <p:extLst>
      <p:ext uri="{BB962C8B-B14F-4D97-AF65-F5344CB8AC3E}">
        <p14:creationId xmlns:p14="http://schemas.microsoft.com/office/powerpoint/2010/main" val="15425616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1898B02-BFF8-884C-8730-98C74F679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Inclusão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4BAF6F4-6812-A345-A003-E44E1E0E75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endParaRPr lang="pt-BR" dirty="0"/>
          </a:p>
          <a:p>
            <a:pPr algn="just"/>
            <a:r>
              <a:rPr lang="pt-BR" dirty="0"/>
              <a:t>Um relacionamento de inclusão entre casos de uso significa que o caso de uso base incorpora explicitamente o comportamento de outro;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O relacionamento de inclusão pode ser comparado com a chamada sub-rotina; 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Indica uma obrigatoriedade, ou seja, quando um caso de uso base possui um relacionamento de inclusão com outro caso de uso, a execução do primeiro obriga, também, a execução do segundo.</a:t>
            </a:r>
          </a:p>
        </p:txBody>
      </p:sp>
    </p:spTree>
    <p:extLst>
      <p:ext uri="{BB962C8B-B14F-4D97-AF65-F5344CB8AC3E}">
        <p14:creationId xmlns:p14="http://schemas.microsoft.com/office/powerpoint/2010/main" val="318691584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1898B02-BFF8-884C-8730-98C74F679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Inclusão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8FF2F46-6EB3-A24B-A1C2-537636C321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000" y="1173912"/>
            <a:ext cx="4851400" cy="51197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09EA130-DF93-5E49-BB8B-244C40E0F937}"/>
              </a:ext>
            </a:extLst>
          </p:cNvPr>
          <p:cNvSpPr txBox="1"/>
          <p:nvPr/>
        </p:nvSpPr>
        <p:spPr>
          <a:xfrm>
            <a:off x="677335" y="2242387"/>
            <a:ext cx="385656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/>
              <a:t>A representação do relacionamento de inclusão é feita por meio de uma reta tracejada que contém uma seta em uma de suas extremidades que é rotulada com a palavra-chave &lt;&lt;include&gt;&gt;;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A seta deve sempre apontar para o caso de uso a ser incluído.</a:t>
            </a:r>
          </a:p>
          <a:p>
            <a:endParaRPr lang="pt-B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5E5FFC-09F7-9E48-945F-12FCE768675A}"/>
              </a:ext>
            </a:extLst>
          </p:cNvPr>
          <p:cNvSpPr txBox="1"/>
          <p:nvPr/>
        </p:nvSpPr>
        <p:spPr>
          <a:xfrm>
            <a:off x="5781223" y="6293687"/>
            <a:ext cx="26869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Inclusão de caso de uso.</a:t>
            </a:r>
          </a:p>
        </p:txBody>
      </p:sp>
    </p:spTree>
    <p:extLst>
      <p:ext uri="{BB962C8B-B14F-4D97-AF65-F5344CB8AC3E}">
        <p14:creationId xmlns:p14="http://schemas.microsoft.com/office/powerpoint/2010/main" val="178540189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672AA-C3E7-F245-9020-B832BDCD8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Inclusão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F715D-254A-E745-BF66-905B4A581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FEB68D-8536-ED4C-AF6C-4204757C3D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918" y="2399175"/>
            <a:ext cx="7683500" cy="340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1179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F785820-73A8-3545-A5F0-B8E6B8D61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﻿Extensão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78F090-8D68-C44E-9E2F-CBF4C66007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635699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8803F96-82B9-5C41-A094-77F1BB0D0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Extensão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A4C029-8B43-7348-A1CE-2B2EE843D3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  <a:p>
            <a:r>
              <a:rPr lang="pt-BR" dirty="0"/>
              <a:t>Possível somente entre casos de uso;</a:t>
            </a:r>
          </a:p>
          <a:p>
            <a:endParaRPr lang="pt-BR" dirty="0"/>
          </a:p>
          <a:p>
            <a:r>
              <a:rPr lang="pt-BR" dirty="0"/>
              <a:t>Utilizado para modelar as rotinas opcionais de um sistema que ocorrerão somente se uma determinada condição for satisfeita;</a:t>
            </a:r>
          </a:p>
          <a:p>
            <a:endParaRPr lang="pt-BR" dirty="0"/>
          </a:p>
          <a:p>
            <a:r>
              <a:rPr lang="pt-BR" dirty="0"/>
              <a:t>A extensão separa um comportamento obrigatório de um opcional.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5937865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8803F96-82B9-5C41-A094-77F1BB0D0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Extensão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A4C029-8B43-7348-A1CE-2B2EE843D3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5103AA-438A-EF49-B239-49F99EAE0B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018" y="1779588"/>
            <a:ext cx="6520370" cy="357981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8960BFE-651B-EA4B-AD9A-F60E357D832E}"/>
              </a:ext>
            </a:extLst>
          </p:cNvPr>
          <p:cNvSpPr txBox="1"/>
          <p:nvPr/>
        </p:nvSpPr>
        <p:spPr>
          <a:xfrm>
            <a:off x="4025803" y="5359399"/>
            <a:ext cx="27719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﻿Extensão de caso de uso.</a:t>
            </a:r>
          </a:p>
        </p:txBody>
      </p:sp>
    </p:spTree>
    <p:extLst>
      <p:ext uri="{BB962C8B-B14F-4D97-AF65-F5344CB8AC3E}">
        <p14:creationId xmlns:p14="http://schemas.microsoft.com/office/powerpoint/2010/main" val="9271451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8803F96-82B9-5C41-A094-77F1BB0D0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Extensão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A4C029-8B43-7348-A1CE-2B2EE843D3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960BFE-651B-EA4B-AD9A-F60E357D832E}"/>
              </a:ext>
            </a:extLst>
          </p:cNvPr>
          <p:cNvSpPr txBox="1"/>
          <p:nvPr/>
        </p:nvSpPr>
        <p:spPr>
          <a:xfrm>
            <a:off x="2476168" y="5331048"/>
            <a:ext cx="4998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Representação de um Relacionamento </a:t>
            </a:r>
            <a:r>
              <a:rPr lang="pt-BR" dirty="0" err="1"/>
              <a:t>Extend</a:t>
            </a:r>
            <a:r>
              <a:rPr lang="pt-BR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3852C3-0DC6-AF41-AC5B-4FFB2C40F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830" y="1752599"/>
            <a:ext cx="6409675" cy="360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83687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8803F96-82B9-5C41-A094-77F1BB0D0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Resumo de relacionamentos entre casos de uso e atores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A4C029-8B43-7348-A1CE-2B2EE843D3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960BFE-651B-EA4B-AD9A-F60E357D832E}"/>
              </a:ext>
            </a:extLst>
          </p:cNvPr>
          <p:cNvSpPr txBox="1"/>
          <p:nvPr/>
        </p:nvSpPr>
        <p:spPr>
          <a:xfrm>
            <a:off x="2476168" y="5331048"/>
            <a:ext cx="4998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Relacionamentos entre casos de uso e atores.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F53BDCC-400D-A540-BF7A-76DFCFCD8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566" y="2348819"/>
            <a:ext cx="8966200" cy="287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39811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01DD1-F4C1-D447-849C-E7B23D206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C8E436-5530-6B41-B6A9-733FE51B38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lang="pt-BR" dirty="0"/>
              <a:t>ERICKSON, John; SIAU, </a:t>
            </a:r>
            <a:r>
              <a:rPr lang="pt-BR" dirty="0" err="1"/>
              <a:t>Keng</a:t>
            </a:r>
            <a:r>
              <a:rPr lang="pt-BR" dirty="0"/>
              <a:t>. </a:t>
            </a:r>
            <a:r>
              <a:rPr lang="pt-BR" b="1" dirty="0" err="1"/>
              <a:t>Can</a:t>
            </a:r>
            <a:r>
              <a:rPr lang="pt-BR" b="1" dirty="0"/>
              <a:t> UML Be </a:t>
            </a:r>
            <a:r>
              <a:rPr lang="pt-BR" b="1" dirty="0" err="1"/>
              <a:t>Simplified</a:t>
            </a:r>
            <a:r>
              <a:rPr lang="pt-BR" b="1" dirty="0"/>
              <a:t>? </a:t>
            </a:r>
            <a:r>
              <a:rPr lang="pt-BR" b="1" dirty="0" err="1"/>
              <a:t>Practitioner</a:t>
            </a:r>
            <a:r>
              <a:rPr lang="pt-BR" b="1" dirty="0"/>
              <a:t> Use of UML in </a:t>
            </a:r>
            <a:r>
              <a:rPr lang="pt-BR" b="1" dirty="0" err="1"/>
              <a:t>Separate</a:t>
            </a:r>
            <a:r>
              <a:rPr lang="pt-BR" b="1" dirty="0"/>
              <a:t> </a:t>
            </a:r>
            <a:r>
              <a:rPr lang="pt-BR" b="1" dirty="0" err="1"/>
              <a:t>Domains</a:t>
            </a:r>
            <a:r>
              <a:rPr lang="pt-BR" dirty="0"/>
              <a:t>. In: EMMSAD. 2007. p. 87-96..</a:t>
            </a:r>
          </a:p>
          <a:p>
            <a:pPr algn="just"/>
            <a:endParaRPr lang="pt-BR" dirty="0"/>
          </a:p>
          <a:p>
            <a:pPr algn="just"/>
            <a:r>
              <a:rPr lang="en-US" dirty="0"/>
              <a:t>PRESSMAN, Roger S.; MAXIM, Bruce R. </a:t>
            </a:r>
            <a:r>
              <a:rPr lang="en-US" b="1" dirty="0"/>
              <a:t> </a:t>
            </a:r>
            <a:r>
              <a:rPr lang="en-US" b="1" dirty="0" err="1"/>
              <a:t>Engenharia</a:t>
            </a:r>
            <a:r>
              <a:rPr lang="en-US" b="1" dirty="0"/>
              <a:t> de software : </a:t>
            </a:r>
            <a:r>
              <a:rPr lang="en-US" b="1" dirty="0" err="1"/>
              <a:t>uma</a:t>
            </a:r>
            <a:r>
              <a:rPr lang="en-US" b="1" dirty="0"/>
              <a:t> </a:t>
            </a:r>
            <a:r>
              <a:rPr lang="en-US" b="1" dirty="0" err="1"/>
              <a:t>abordagem</a:t>
            </a:r>
            <a:r>
              <a:rPr lang="en-US" b="1" dirty="0"/>
              <a:t> </a:t>
            </a:r>
            <a:r>
              <a:rPr lang="en-US" b="1" dirty="0" err="1"/>
              <a:t>profissional</a:t>
            </a:r>
            <a:r>
              <a:rPr lang="en-US" dirty="0"/>
              <a:t>. 8. ed. – Porto Alegre : AMGH, 2016.</a:t>
            </a:r>
            <a:endParaRPr lang="pt-BR" dirty="0"/>
          </a:p>
          <a:p>
            <a:pPr algn="just"/>
            <a:endParaRPr lang="en-US" dirty="0"/>
          </a:p>
          <a:p>
            <a:pPr algn="just"/>
            <a:r>
              <a:rPr lang="en-US" dirty="0"/>
              <a:t>STAIR, Ralph M.; REYNOLDS, George W. </a:t>
            </a:r>
            <a:r>
              <a:rPr lang="en-US" b="1" dirty="0" err="1"/>
              <a:t>Princípios</a:t>
            </a:r>
            <a:r>
              <a:rPr lang="en-US" b="1" dirty="0"/>
              <a:t> de </a:t>
            </a:r>
            <a:r>
              <a:rPr lang="en-US" b="1" dirty="0" err="1"/>
              <a:t>Sistemas</a:t>
            </a:r>
            <a:r>
              <a:rPr lang="en-US" b="1" dirty="0"/>
              <a:t> de </a:t>
            </a:r>
            <a:r>
              <a:rPr lang="en-US" b="1" dirty="0" err="1"/>
              <a:t>Informação</a:t>
            </a:r>
            <a:r>
              <a:rPr lang="en-US" b="1" dirty="0"/>
              <a:t>. 11ª </a:t>
            </a:r>
            <a:r>
              <a:rPr lang="en-US" b="1" dirty="0" err="1"/>
              <a:t>edição</a:t>
            </a:r>
            <a:r>
              <a:rPr lang="en-US" b="1" dirty="0"/>
              <a:t>.</a:t>
            </a:r>
            <a:r>
              <a:rPr lang="en-US" dirty="0"/>
              <a:t> São Paulo: Cengage Learning, 2015.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SOMMERVILLE, Ian. </a:t>
            </a:r>
            <a:r>
              <a:rPr lang="en-US" b="1" dirty="0" err="1"/>
              <a:t>Engenharia</a:t>
            </a:r>
            <a:r>
              <a:rPr lang="en-US" b="1" dirty="0"/>
              <a:t> de Software</a:t>
            </a:r>
            <a:r>
              <a:rPr lang="en-US" dirty="0"/>
              <a:t>. 10ª </a:t>
            </a:r>
            <a:r>
              <a:rPr lang="en-US" dirty="0" err="1"/>
              <a:t>Edição</a:t>
            </a:r>
            <a:r>
              <a:rPr lang="en-US" dirty="0"/>
              <a:t>. 2018.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/>
              <a:t>WAZLAWICK, R. S. </a:t>
            </a:r>
            <a:r>
              <a:rPr lang="en-US" b="1" dirty="0" err="1"/>
              <a:t>Análise</a:t>
            </a:r>
            <a:r>
              <a:rPr lang="en-US" b="1" dirty="0"/>
              <a:t> e </a:t>
            </a:r>
            <a:r>
              <a:rPr lang="en-US" b="1" dirty="0" err="1"/>
              <a:t>projeto</a:t>
            </a:r>
            <a:r>
              <a:rPr lang="en-US" b="1" dirty="0"/>
              <a:t> de </a:t>
            </a:r>
            <a:r>
              <a:rPr lang="en-US" b="1" dirty="0" err="1"/>
              <a:t>sistemas</a:t>
            </a:r>
            <a:r>
              <a:rPr lang="en-US" b="1" dirty="0"/>
              <a:t> de </a:t>
            </a:r>
            <a:r>
              <a:rPr lang="en-US" b="1" dirty="0" err="1"/>
              <a:t>informação</a:t>
            </a:r>
            <a:r>
              <a:rPr lang="en-US" b="1" dirty="0"/>
              <a:t> </a:t>
            </a:r>
            <a:r>
              <a:rPr lang="en-US" b="1" dirty="0" err="1"/>
              <a:t>orientados</a:t>
            </a:r>
            <a:r>
              <a:rPr lang="en-US" b="1" dirty="0"/>
              <a:t> a </a:t>
            </a:r>
            <a:r>
              <a:rPr lang="en-US" b="1" dirty="0" err="1"/>
              <a:t>objetos</a:t>
            </a:r>
            <a:r>
              <a:rPr lang="en-US" dirty="0"/>
              <a:t>. 2. ed. Rio de Janeiro: Elsevier, 2011. 330 p. (Série, SBC - </a:t>
            </a:r>
            <a:r>
              <a:rPr lang="en-US" dirty="0" err="1"/>
              <a:t>Sociedade</a:t>
            </a:r>
            <a:r>
              <a:rPr lang="en-US" dirty="0"/>
              <a:t> </a:t>
            </a:r>
            <a:r>
              <a:rPr lang="en-US" dirty="0" err="1"/>
              <a:t>Brasileira</a:t>
            </a:r>
            <a:r>
              <a:rPr lang="en-US" dirty="0"/>
              <a:t> de </a:t>
            </a:r>
            <a:r>
              <a:rPr lang="en-US" dirty="0" err="1"/>
              <a:t>Computação</a:t>
            </a:r>
            <a:r>
              <a:rPr lang="en-US" dirty="0"/>
              <a:t>). ISBN 8535239164 (broch.).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5742940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{5161399E-A2D5-354F-86E2-9395345EE8A0}tf10001060</Template>
  <TotalTime>1496</TotalTime>
  <Words>1852</Words>
  <Application>Microsoft Macintosh PowerPoint</Application>
  <PresentationFormat>Widescreen</PresentationFormat>
  <Paragraphs>239</Paragraphs>
  <Slides>49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3" baseType="lpstr">
      <vt:lpstr>Arial</vt:lpstr>
      <vt:lpstr>Trebuchet MS</vt:lpstr>
      <vt:lpstr>Wingdings 3</vt:lpstr>
      <vt:lpstr>Facet</vt:lpstr>
      <vt:lpstr>Modelagem de sistemas</vt:lpstr>
      <vt:lpstr>Modelagem de sistemas</vt:lpstr>
      <vt:lpstr>Modelagem de sistemas</vt:lpstr>
      <vt:lpstr>Modelagem de sistemas</vt:lpstr>
      <vt:lpstr>Modelagem de sistemas</vt:lpstr>
      <vt:lpstr>Modelagem de sistemas</vt:lpstr>
      <vt:lpstr>Modelagem de sistemas</vt:lpstr>
      <vt:lpstr>UML (Unified Modeling Language); </vt:lpstr>
      <vt:lpstr>UML (Unified Modeling Language)</vt:lpstr>
      <vt:lpstr>UML (Unified Modeling Language)</vt:lpstr>
      <vt:lpstr>UML (Unified Modeling Language)</vt:lpstr>
      <vt:lpstr>UML (Unified Modeling Language)</vt:lpstr>
      <vt:lpstr>UML (Unified Modeling Language)</vt:lpstr>
      <vt:lpstr>UML (Unified Modeling Language)</vt:lpstr>
      <vt:lpstr>Diagrama de casos de uso</vt:lpstr>
      <vt:lpstr>Diagrama de casos de uso</vt:lpstr>
      <vt:lpstr>Diagrama de casos de uso</vt:lpstr>
      <vt:lpstr>Atores</vt:lpstr>
      <vt:lpstr>Atores</vt:lpstr>
      <vt:lpstr>Atores</vt:lpstr>
      <vt:lpstr>CASOS DE USO</vt:lpstr>
      <vt:lpstr>Casos de uso</vt:lpstr>
      <vt:lpstr>Casos de uso</vt:lpstr>
      <vt:lpstr>Casos de uso</vt:lpstr>
      <vt:lpstr>Casos de uso</vt:lpstr>
      <vt:lpstr>Casos de uso</vt:lpstr>
      <vt:lpstr>Relacionamento entre Casos de Uso e Atores</vt:lpstr>
      <vt:lpstr>Relacionamento entre Casos de Uso e Atores</vt:lpstr>
      <vt:lpstr>Associação</vt:lpstr>
      <vt:lpstr>Associação</vt:lpstr>
      <vt:lpstr>Associação</vt:lpstr>
      <vt:lpstr>Associação</vt:lpstr>
      <vt:lpstr>Associação</vt:lpstr>
      <vt:lpstr>Generalização</vt:lpstr>
      <vt:lpstr>PowerPoint Presentation</vt:lpstr>
      <vt:lpstr>Generalização</vt:lpstr>
      <vt:lpstr>Generalização</vt:lpstr>
      <vt:lpstr>Generalização</vt:lpstr>
      <vt:lpstr>Inclusão</vt:lpstr>
      <vt:lpstr>Inclusão</vt:lpstr>
      <vt:lpstr>Inclusão</vt:lpstr>
      <vt:lpstr>Inclusão</vt:lpstr>
      <vt:lpstr>Inclusão</vt:lpstr>
      <vt:lpstr>Extensão</vt:lpstr>
      <vt:lpstr>Extensão</vt:lpstr>
      <vt:lpstr>Extensão</vt:lpstr>
      <vt:lpstr>Extensão</vt:lpstr>
      <vt:lpstr>Resumo de relacionamentos entre casos de uso e atores</vt:lpstr>
      <vt:lpstr>Referências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Modelagem de sistemas</dc:title>
  <dc:creator>Microsoft Office User</dc:creator>
  <cp:lastModifiedBy>Microsoft Office User</cp:lastModifiedBy>
  <cp:revision>10</cp:revision>
  <dcterms:created xsi:type="dcterms:W3CDTF">2023-08-25T20:23:39Z</dcterms:created>
  <dcterms:modified xsi:type="dcterms:W3CDTF">2026-09-15T22:41:27Z</dcterms:modified>
</cp:coreProperties>
</file>