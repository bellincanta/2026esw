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5" r:id="rId7"/>
    <p:sldId id="268" r:id="rId8"/>
    <p:sldId id="269" r:id="rId9"/>
    <p:sldId id="270" r:id="rId10"/>
    <p:sldId id="262" r:id="rId11"/>
    <p:sldId id="263" r:id="rId12"/>
    <p:sldId id="271" r:id="rId13"/>
    <p:sldId id="272" r:id="rId14"/>
    <p:sldId id="310" r:id="rId15"/>
    <p:sldId id="314" r:id="rId16"/>
    <p:sldId id="315" r:id="rId17"/>
    <p:sldId id="316" r:id="rId18"/>
    <p:sldId id="264" r:id="rId19"/>
    <p:sldId id="273" r:id="rId20"/>
    <p:sldId id="275" r:id="rId21"/>
    <p:sldId id="311" r:id="rId22"/>
    <p:sldId id="274" r:id="rId23"/>
    <p:sldId id="307" r:id="rId24"/>
    <p:sldId id="312" r:id="rId25"/>
    <p:sldId id="313" r:id="rId26"/>
    <p:sldId id="309" r:id="rId27"/>
    <p:sldId id="279" r:id="rId28"/>
    <p:sldId id="280" r:id="rId29"/>
    <p:sldId id="318" r:id="rId30"/>
    <p:sldId id="277" r:id="rId31"/>
    <p:sldId id="278" r:id="rId32"/>
    <p:sldId id="317" r:id="rId33"/>
    <p:sldId id="282" r:id="rId34"/>
    <p:sldId id="281" r:id="rId35"/>
    <p:sldId id="358" r:id="rId36"/>
    <p:sldId id="359" r:id="rId37"/>
    <p:sldId id="360" r:id="rId38"/>
    <p:sldId id="361" r:id="rId39"/>
    <p:sldId id="362" r:id="rId40"/>
    <p:sldId id="363" r:id="rId41"/>
    <p:sldId id="364" r:id="rId42"/>
    <p:sldId id="365" r:id="rId43"/>
    <p:sldId id="366" r:id="rId44"/>
    <p:sldId id="367" r:id="rId45"/>
    <p:sldId id="319" r:id="rId46"/>
    <p:sldId id="320" r:id="rId47"/>
    <p:sldId id="321" r:id="rId48"/>
    <p:sldId id="322" r:id="rId49"/>
    <p:sldId id="323" r:id="rId50"/>
    <p:sldId id="324" r:id="rId51"/>
    <p:sldId id="325" r:id="rId52"/>
    <p:sldId id="326" r:id="rId53"/>
    <p:sldId id="327" r:id="rId54"/>
    <p:sldId id="328" r:id="rId55"/>
    <p:sldId id="329" r:id="rId56"/>
    <p:sldId id="330" r:id="rId57"/>
    <p:sldId id="331" r:id="rId58"/>
    <p:sldId id="332" r:id="rId59"/>
    <p:sldId id="333" r:id="rId60"/>
    <p:sldId id="334" r:id="rId61"/>
    <p:sldId id="335" r:id="rId62"/>
    <p:sldId id="336" r:id="rId63"/>
    <p:sldId id="337" r:id="rId64"/>
    <p:sldId id="339" r:id="rId65"/>
    <p:sldId id="340" r:id="rId66"/>
    <p:sldId id="346" r:id="rId67"/>
    <p:sldId id="347" r:id="rId68"/>
    <p:sldId id="348" r:id="rId69"/>
    <p:sldId id="349" r:id="rId70"/>
    <p:sldId id="350" r:id="rId71"/>
    <p:sldId id="351" r:id="rId72"/>
    <p:sldId id="341" r:id="rId73"/>
    <p:sldId id="342" r:id="rId74"/>
    <p:sldId id="343" r:id="rId75"/>
    <p:sldId id="344" r:id="rId76"/>
    <p:sldId id="352" r:id="rId77"/>
    <p:sldId id="353" r:id="rId78"/>
    <p:sldId id="355" r:id="rId79"/>
    <p:sldId id="357" r:id="rId80"/>
    <p:sldId id="354" r:id="rId81"/>
    <p:sldId id="356" r:id="rId82"/>
    <p:sldId id="306" r:id="rId8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5377"/>
  </p:normalViewPr>
  <p:slideViewPr>
    <p:cSldViewPr snapToGrid="0" snapToObjects="1">
      <p:cViewPr varScale="1">
        <p:scale>
          <a:sx n="100" d="100"/>
          <a:sy n="100" d="100"/>
        </p:scale>
        <p:origin x="4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6D6D2-2C16-AA47-9604-72FEC4377D7B}" type="datetimeFigureOut">
              <a:rPr lang="pt-BR" smtClean="0"/>
              <a:t>31/10/2023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7864B-8E09-E44C-96AD-FAB39F3F68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8664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6D6D2-2C16-AA47-9604-72FEC4377D7B}" type="datetimeFigureOut">
              <a:rPr lang="pt-BR" smtClean="0"/>
              <a:t>31/10/2023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7864B-8E09-E44C-96AD-FAB39F3F68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4204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6D6D2-2C16-AA47-9604-72FEC4377D7B}" type="datetimeFigureOut">
              <a:rPr lang="pt-BR" smtClean="0"/>
              <a:t>31/10/2023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7864B-8E09-E44C-96AD-FAB39F3F68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6069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6D6D2-2C16-AA47-9604-72FEC4377D7B}" type="datetimeFigureOut">
              <a:rPr lang="pt-BR" smtClean="0"/>
              <a:t>31/10/2023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7864B-8E09-E44C-96AD-FAB39F3F68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4857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6D6D2-2C16-AA47-9604-72FEC4377D7B}" type="datetimeFigureOut">
              <a:rPr lang="pt-BR" smtClean="0"/>
              <a:t>31/10/2023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7864B-8E09-E44C-96AD-FAB39F3F68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9263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6D6D2-2C16-AA47-9604-72FEC4377D7B}" type="datetimeFigureOut">
              <a:rPr lang="pt-BR" smtClean="0"/>
              <a:t>31/10/2023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7864B-8E09-E44C-96AD-FAB39F3F68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6128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6D6D2-2C16-AA47-9604-72FEC4377D7B}" type="datetimeFigureOut">
              <a:rPr lang="pt-BR" smtClean="0"/>
              <a:t>31/10/2023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7864B-8E09-E44C-96AD-FAB39F3F68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6224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6D6D2-2C16-AA47-9604-72FEC4377D7B}" type="datetimeFigureOut">
              <a:rPr lang="pt-BR" smtClean="0"/>
              <a:t>31/10/2023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7864B-8E09-E44C-96AD-FAB39F3F68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926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6D6D2-2C16-AA47-9604-72FEC4377D7B}" type="datetimeFigureOut">
              <a:rPr lang="pt-BR" smtClean="0"/>
              <a:t>31/10/2023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7864B-8E09-E44C-96AD-FAB39F3F68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9818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6D6D2-2C16-AA47-9604-72FEC4377D7B}" type="datetimeFigureOut">
              <a:rPr lang="pt-BR" smtClean="0"/>
              <a:t>31/10/2023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7864B-8E09-E44C-96AD-FAB39F3F68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9286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6D6D2-2C16-AA47-9604-72FEC4377D7B}" type="datetimeFigureOut">
              <a:rPr lang="pt-BR" smtClean="0"/>
              <a:t>31/10/2023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7864B-8E09-E44C-96AD-FAB39F3F6820}" type="slidenum">
              <a:rPr lang="pt-BR" smtClean="0"/>
              <a:t>‹#›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65894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6D6D2-2C16-AA47-9604-72FEC4377D7B}" type="datetimeFigureOut">
              <a:rPr lang="pt-BR" smtClean="0"/>
              <a:t>31/10/2023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7864B-8E09-E44C-96AD-FAB39F3F68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2936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6D6D2-2C16-AA47-9604-72FEC4377D7B}" type="datetimeFigureOut">
              <a:rPr lang="pt-BR" smtClean="0"/>
              <a:t>31/10/2023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7864B-8E09-E44C-96AD-FAB39F3F6820}" type="slidenum">
              <a:rPr lang="pt-BR" smtClean="0"/>
              <a:t>‹#›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085048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6D6D2-2C16-AA47-9604-72FEC4377D7B}" type="datetimeFigureOut">
              <a:rPr lang="pt-BR" smtClean="0"/>
              <a:t>31/10/2023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7864B-8E09-E44C-96AD-FAB39F3F68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82574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6D6D2-2C16-AA47-9604-72FEC4377D7B}" type="datetimeFigureOut">
              <a:rPr lang="pt-BR" smtClean="0"/>
              <a:t>31/10/2023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7864B-8E09-E44C-96AD-FAB39F3F68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79158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6D6D2-2C16-AA47-9604-72FEC4377D7B}" type="datetimeFigureOut">
              <a:rPr lang="pt-BR" smtClean="0"/>
              <a:t>31/10/2023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7864B-8E09-E44C-96AD-FAB39F3F68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7571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6D6D2-2C16-AA47-9604-72FEC4377D7B}" type="datetimeFigureOut">
              <a:rPr lang="pt-BR" smtClean="0"/>
              <a:t>31/10/2023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AD7864B-8E09-E44C-96AD-FAB39F3F68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3406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586FB-11AB-C644-A952-5C067E4D98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﻿Diagramas de Sistemas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EA86BA-F99E-1747-949D-DE9AF46640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0166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586FB-11AB-C644-A952-5C067E4D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﻿Diagramas de Sistemas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26FAC0-BE5B-2C4B-9AB8-27EFB244D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  <a:p>
            <a:pPr algn="just"/>
            <a:r>
              <a:rPr lang="pt-BR" dirty="0"/>
              <a:t>A modelagem de sistema é o processo de elaboração de modelos abstratos de um sistema, normalmente representado por meio de um diagrama. 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No diagrama, cada um desses modelos apresenta uma visão ou perspectiva diferente do sistema (SOMMERVILLE, 2011).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Da mesma forma que os arquitetos elaboram plantas e projetos para serem usados para a construção de um edifício, os engenheiros de software criam os diagramas UML para auxiliarem os desenvolvedores de software a construir o software.</a:t>
            </a:r>
          </a:p>
        </p:txBody>
      </p:sp>
    </p:spTree>
    <p:extLst>
      <p:ext uri="{BB962C8B-B14F-4D97-AF65-F5344CB8AC3E}">
        <p14:creationId xmlns:p14="http://schemas.microsoft.com/office/powerpoint/2010/main" val="1760517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586FB-11AB-C644-A952-5C067E4D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﻿Diagramas de Sistemas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26FAC0-BE5B-2C4B-9AB8-27EFB244D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  <a:p>
            <a:r>
              <a:rPr lang="pt-BR" dirty="0"/>
              <a:t>Diagrama de classes;</a:t>
            </a:r>
          </a:p>
          <a:p>
            <a:endParaRPr lang="pt-BR" dirty="0"/>
          </a:p>
          <a:p>
            <a:r>
              <a:rPr lang="pt-BR" dirty="0"/>
              <a:t>Diagrama de sequência;</a:t>
            </a:r>
          </a:p>
          <a:p>
            <a:endParaRPr lang="pt-BR" dirty="0"/>
          </a:p>
          <a:p>
            <a:r>
              <a:rPr lang="pt-BR" dirty="0"/>
              <a:t>Diagrama de máquina de estados;</a:t>
            </a:r>
          </a:p>
          <a:p>
            <a:endParaRPr lang="pt-BR" dirty="0"/>
          </a:p>
          <a:p>
            <a:r>
              <a:rPr lang="pt-BR" dirty="0"/>
              <a:t>Diagrama de atividades.</a:t>
            </a:r>
          </a:p>
        </p:txBody>
      </p:sp>
    </p:spTree>
    <p:extLst>
      <p:ext uri="{BB962C8B-B14F-4D97-AF65-F5344CB8AC3E}">
        <p14:creationId xmlns:p14="http://schemas.microsoft.com/office/powerpoint/2010/main" val="142107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7DC0F-C6D4-3240-AA5B-FEB7D83E2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 de classes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0D8AE8-8352-6B47-A59E-E26551D2F6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9773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014C5A-E3D7-0747-AF83-07C6F3C38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 de classes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0B978E-63EE-234E-A688-10EAE277B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pt-BR" dirty="0"/>
          </a:p>
          <a:p>
            <a:pPr algn="just"/>
            <a:r>
              <a:rPr lang="pt-BR" dirty="0"/>
              <a:t>Mais utilizado da UML;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Define a estrutura das classes identificadas para o sistema, mostrando os atributos e métodos possuídos por cada uma das classes;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Estabelece como as classes se relacionam e trocam informações entre si;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39666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CCF866-D892-5C47-92B8-817CE8121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1931988"/>
            <a:ext cx="9192806" cy="2595460"/>
          </a:xfrm>
        </p:spPr>
        <p:txBody>
          <a:bodyPr/>
          <a:lstStyle/>
          <a:p>
            <a:r>
              <a:rPr lang="pt-BR" dirty="0"/>
              <a:t>Modelando uma classe no Diagrama</a:t>
            </a:r>
          </a:p>
        </p:txBody>
      </p:sp>
    </p:spTree>
    <p:extLst>
      <p:ext uri="{BB962C8B-B14F-4D97-AF65-F5344CB8AC3E}">
        <p14:creationId xmlns:p14="http://schemas.microsoft.com/office/powerpoint/2010/main" val="2813140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CCF866-D892-5C47-92B8-817CE8121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Modelando uma classe no Diagrama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3A82DA-BB49-BF42-A7F0-DFDC28755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classe neste diagrama é modelada da seguinte forma: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571D5B9-7042-3B47-996D-C9920D069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3615" y="3295273"/>
            <a:ext cx="3915168" cy="2379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EDE7A94-1176-194C-8021-61311A1285A9}"/>
              </a:ext>
            </a:extLst>
          </p:cNvPr>
          <p:cNvCxnSpPr>
            <a:cxnSpLocks/>
          </p:cNvCxnSpPr>
          <p:nvPr/>
        </p:nvCxnSpPr>
        <p:spPr>
          <a:xfrm>
            <a:off x="3765180" y="3805516"/>
            <a:ext cx="268941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5F8485A-2CC8-BA49-AFD3-08C81E965821}"/>
              </a:ext>
            </a:extLst>
          </p:cNvPr>
          <p:cNvCxnSpPr>
            <a:cxnSpLocks/>
          </p:cNvCxnSpPr>
          <p:nvPr/>
        </p:nvCxnSpPr>
        <p:spPr>
          <a:xfrm>
            <a:off x="3966885" y="4465168"/>
            <a:ext cx="199016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E3F2742-BFD6-E746-9715-BEFBBD0E00F4}"/>
              </a:ext>
            </a:extLst>
          </p:cNvPr>
          <p:cNvCxnSpPr>
            <a:cxnSpLocks/>
          </p:cNvCxnSpPr>
          <p:nvPr/>
        </p:nvCxnSpPr>
        <p:spPr>
          <a:xfrm>
            <a:off x="3966885" y="5150221"/>
            <a:ext cx="194982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9C9F435-A783-AC44-B129-4CE0D5B8F522}"/>
              </a:ext>
            </a:extLst>
          </p:cNvPr>
          <p:cNvSpPr txBox="1"/>
          <p:nvPr/>
        </p:nvSpPr>
        <p:spPr>
          <a:xfrm>
            <a:off x="665329" y="3449344"/>
            <a:ext cx="38555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1° compartimento: Nome da Classe</a:t>
            </a:r>
          </a:p>
          <a:p>
            <a:endParaRPr lang="pt-B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4D3BB1-0F19-754E-BFE9-83525C179299}"/>
              </a:ext>
            </a:extLst>
          </p:cNvPr>
          <p:cNvSpPr txBox="1"/>
          <p:nvPr/>
        </p:nvSpPr>
        <p:spPr>
          <a:xfrm>
            <a:off x="682903" y="4124223"/>
            <a:ext cx="40752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2° compartimento: Atributos – Estado</a:t>
            </a:r>
          </a:p>
          <a:p>
            <a:endParaRPr lang="pt-B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A1A04D-557A-0D45-9F85-443A352524F2}"/>
              </a:ext>
            </a:extLst>
          </p:cNvPr>
          <p:cNvSpPr txBox="1"/>
          <p:nvPr/>
        </p:nvSpPr>
        <p:spPr>
          <a:xfrm>
            <a:off x="665329" y="4801654"/>
            <a:ext cx="50722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3° compartimento: Métodos – Comportamentos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70322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CCF866-D892-5C47-92B8-817CE8121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Modelando uma classe no Diagrama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3A82DA-BB49-BF42-A7F0-DFDC28755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visibilidade dos atributos e métodos no sistema é representado no diagrama da seguinte forma:</a:t>
            </a:r>
          </a:p>
          <a:p>
            <a:endParaRPr lang="pt-BR" dirty="0"/>
          </a:p>
          <a:p>
            <a:pPr lvl="1"/>
            <a:r>
              <a:rPr lang="pt-BR" dirty="0"/>
              <a:t>Pública (+): qualquer classe pode acessa-lo;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Privada (-): só a classe que o possui pode acessa-lo;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Protegida (#): somente as classes e subclasses podem acessa-lo;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20155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CCF866-D892-5C47-92B8-817CE8121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Modelando uma classe no Diagrama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9911FBF-5109-354E-811A-26AB9CFA8EB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5418" y="2326816"/>
            <a:ext cx="4101864" cy="3036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DDBA591-818E-A445-9E4D-ACE193EC80E7}"/>
              </a:ext>
            </a:extLst>
          </p:cNvPr>
          <p:cNvCxnSpPr/>
          <p:nvPr/>
        </p:nvCxnSpPr>
        <p:spPr>
          <a:xfrm flipV="1">
            <a:off x="2017059" y="3495560"/>
            <a:ext cx="1371600" cy="5647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C955C70-B68F-EC43-8D02-5B5B9EB40ED8}"/>
              </a:ext>
            </a:extLst>
          </p:cNvPr>
          <p:cNvCxnSpPr/>
          <p:nvPr/>
        </p:nvCxnSpPr>
        <p:spPr>
          <a:xfrm flipH="1">
            <a:off x="3859306" y="2070847"/>
            <a:ext cx="793376" cy="12640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77C4B29-3169-E14F-80E1-6ED5F0BB463B}"/>
              </a:ext>
            </a:extLst>
          </p:cNvPr>
          <p:cNvCxnSpPr/>
          <p:nvPr/>
        </p:nvCxnSpPr>
        <p:spPr>
          <a:xfrm flipH="1">
            <a:off x="5116350" y="2114586"/>
            <a:ext cx="1768544" cy="12068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BE58E5A-5263-A449-B7D7-B21B63F2A7F0}"/>
              </a:ext>
            </a:extLst>
          </p:cNvPr>
          <p:cNvSpPr txBox="1"/>
          <p:nvPr/>
        </p:nvSpPr>
        <p:spPr>
          <a:xfrm>
            <a:off x="1463093" y="4060337"/>
            <a:ext cx="11079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Visibilidade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C29471-7F1F-BE44-BAB6-F2B008FAE948}"/>
              </a:ext>
            </a:extLst>
          </p:cNvPr>
          <p:cNvSpPr txBox="1"/>
          <p:nvPr/>
        </p:nvSpPr>
        <p:spPr>
          <a:xfrm>
            <a:off x="4229328" y="1759036"/>
            <a:ext cx="846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Atributo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895E5B-5088-5F46-BD41-FCAF130395AF}"/>
              </a:ext>
            </a:extLst>
          </p:cNvPr>
          <p:cNvSpPr txBox="1"/>
          <p:nvPr/>
        </p:nvSpPr>
        <p:spPr>
          <a:xfrm>
            <a:off x="6461540" y="1801248"/>
            <a:ext cx="5357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Tipo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394BAA5-AFA7-3B41-A26E-6138E1884201}"/>
              </a:ext>
            </a:extLst>
          </p:cNvPr>
          <p:cNvCxnSpPr/>
          <p:nvPr/>
        </p:nvCxnSpPr>
        <p:spPr>
          <a:xfrm flipV="1">
            <a:off x="2017059" y="4456753"/>
            <a:ext cx="1371600" cy="5647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1C12F1A-08C5-F546-8381-01E15F7E121B}"/>
              </a:ext>
            </a:extLst>
          </p:cNvPr>
          <p:cNvSpPr txBox="1"/>
          <p:nvPr/>
        </p:nvSpPr>
        <p:spPr>
          <a:xfrm>
            <a:off x="1463093" y="5021530"/>
            <a:ext cx="11079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Visibilidade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724FBC2-1B02-3A46-9D67-340A553D8BA9}"/>
              </a:ext>
            </a:extLst>
          </p:cNvPr>
          <p:cNvCxnSpPr>
            <a:cxnSpLocks/>
          </p:cNvCxnSpPr>
          <p:nvPr/>
        </p:nvCxnSpPr>
        <p:spPr>
          <a:xfrm flipH="1">
            <a:off x="4580968" y="3154228"/>
            <a:ext cx="2958352" cy="11272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60FC1D4-BB49-6342-B6E1-531B19487E38}"/>
              </a:ext>
            </a:extLst>
          </p:cNvPr>
          <p:cNvSpPr txBox="1"/>
          <p:nvPr/>
        </p:nvSpPr>
        <p:spPr>
          <a:xfrm>
            <a:off x="7300345" y="2841480"/>
            <a:ext cx="7713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Método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8375E82-8257-EA4E-9FFC-77E4EFE37695}"/>
              </a:ext>
            </a:extLst>
          </p:cNvPr>
          <p:cNvCxnSpPr/>
          <p:nvPr/>
        </p:nvCxnSpPr>
        <p:spPr>
          <a:xfrm flipH="1" flipV="1">
            <a:off x="5257800" y="4867835"/>
            <a:ext cx="838200" cy="8740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3A3784D-84DB-4241-AA42-1A13B0102CDC}"/>
              </a:ext>
            </a:extLst>
          </p:cNvPr>
          <p:cNvSpPr txBox="1"/>
          <p:nvPr/>
        </p:nvSpPr>
        <p:spPr>
          <a:xfrm>
            <a:off x="5760885" y="5764166"/>
            <a:ext cx="8106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Retorno</a:t>
            </a:r>
          </a:p>
        </p:txBody>
      </p:sp>
    </p:spTree>
    <p:extLst>
      <p:ext uri="{BB962C8B-B14F-4D97-AF65-F5344CB8AC3E}">
        <p14:creationId xmlns:p14="http://schemas.microsoft.com/office/powerpoint/2010/main" val="443040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/>
      <p:bldP spid="15" grpId="0"/>
      <p:bldP spid="19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62986E-B8BC-FC4B-82CF-B4383012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Relacionamentos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3D1D90-4E54-FE4D-AF98-1F5C6490C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1974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2856CA-B391-E440-88FA-51D3B79E7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Relacionamentos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446106-9DE6-C842-B62B-DE2C789F3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endParaRPr lang="pt-BR" dirty="0"/>
          </a:p>
          <a:p>
            <a:pPr marL="0" indent="0" algn="just">
              <a:buNone/>
            </a:pPr>
            <a:endParaRPr lang="pt-BR" dirty="0"/>
          </a:p>
          <a:p>
            <a:pPr algn="just"/>
            <a:r>
              <a:rPr lang="pt-BR" dirty="0"/>
              <a:t>Classes não trabalham sozinhas;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Colaboram umas com as outras, por meio de relacionamentos;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Os relacionamentos entre objetos permitem que eles troquem mensagens, colaborando entre si para produzir as funcionalidades do sistema.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64029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2856CA-B391-E440-88FA-51D3B79E7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Relacionamentos - Tipos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446106-9DE6-C842-B62B-DE2C789F3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/>
              <a:t>Entre objetos de diferentes classes:</a:t>
            </a:r>
          </a:p>
          <a:p>
            <a:pPr algn="just"/>
            <a:endParaRPr lang="pt-BR" dirty="0"/>
          </a:p>
          <a:p>
            <a:pPr lvl="1" algn="just"/>
            <a:r>
              <a:rPr lang="pt-BR" dirty="0"/>
              <a:t>Associação – “usa”;</a:t>
            </a:r>
          </a:p>
          <a:p>
            <a:pPr lvl="1" algn="just"/>
            <a:r>
              <a:rPr lang="pt-BR" dirty="0"/>
              <a:t>Agregação – “é parte de”;</a:t>
            </a:r>
          </a:p>
          <a:p>
            <a:pPr lvl="1" algn="just"/>
            <a:r>
              <a:rPr lang="pt-BR" dirty="0"/>
              <a:t>Composição – “é parte essencial de”.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Entre classes:</a:t>
            </a:r>
          </a:p>
          <a:p>
            <a:pPr algn="just"/>
            <a:endParaRPr lang="pt-BR" dirty="0"/>
          </a:p>
          <a:p>
            <a:pPr lvl="1" algn="just"/>
            <a:r>
              <a:rPr lang="pt-BR" dirty="0"/>
              <a:t>Generalização – “É um”.</a:t>
            </a:r>
          </a:p>
        </p:txBody>
      </p:sp>
    </p:spTree>
    <p:extLst>
      <p:ext uri="{BB962C8B-B14F-4D97-AF65-F5344CB8AC3E}">
        <p14:creationId xmlns:p14="http://schemas.microsoft.com/office/powerpoint/2010/main" val="4097073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2856CA-B391-E440-88FA-51D3B79E7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01812"/>
            <a:ext cx="8596668" cy="1320800"/>
          </a:xfrm>
        </p:spPr>
        <p:txBody>
          <a:bodyPr/>
          <a:lstStyle/>
          <a:p>
            <a:r>
              <a:rPr lang="pt-BR" dirty="0"/>
              <a:t>Relacionamentos - Tipos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446106-9DE6-C842-B62B-DE2C789F3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16212"/>
            <a:ext cx="8596668" cy="4625788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Relacionamentos são caracterizados por:</a:t>
            </a:r>
          </a:p>
          <a:p>
            <a:pPr algn="just"/>
            <a:endParaRPr lang="pt-BR" dirty="0"/>
          </a:p>
          <a:p>
            <a:pPr lvl="1" algn="just"/>
            <a:r>
              <a:rPr lang="pt-BR" dirty="0"/>
              <a:t>Nome: descrição dada ao relacionamento (faz, tem, possui,...);</a:t>
            </a:r>
          </a:p>
          <a:p>
            <a:pPr lvl="2" algn="just"/>
            <a:r>
              <a:rPr lang="pt-BR" dirty="0"/>
              <a:t>É usualmente um verbo.</a:t>
            </a:r>
          </a:p>
          <a:p>
            <a:pPr lvl="1" algn="just"/>
            <a:endParaRPr lang="pt-BR" dirty="0"/>
          </a:p>
          <a:p>
            <a:pPr lvl="1" algn="just"/>
            <a:r>
              <a:rPr lang="pt-BR" dirty="0"/>
              <a:t>Navegabilidade: indicada por uma seta no fim do relacionamento;</a:t>
            </a:r>
          </a:p>
          <a:p>
            <a:pPr lvl="2" algn="just"/>
            <a:r>
              <a:rPr lang="pt-BR" dirty="0"/>
              <a:t>Uni- ou bidirecional.</a:t>
            </a:r>
          </a:p>
          <a:p>
            <a:pPr lvl="1" algn="just"/>
            <a:endParaRPr lang="pt-BR" dirty="0"/>
          </a:p>
          <a:p>
            <a:pPr lvl="1" algn="just"/>
            <a:r>
              <a:rPr lang="pt-BR" dirty="0"/>
              <a:t>Multiplicidade: 0..1, 0..*, 1, 1..*, 2, 3..7;</a:t>
            </a:r>
          </a:p>
          <a:p>
            <a:pPr lvl="1" algn="just"/>
            <a:endParaRPr lang="pt-BR" dirty="0"/>
          </a:p>
          <a:p>
            <a:pPr lvl="1" algn="just"/>
            <a:r>
              <a:rPr lang="pt-BR" dirty="0"/>
              <a:t>Tipos de relacionamentos: associação simples, agregação, composição, generalização.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52165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2856CA-B391-E440-88FA-51D3B79E7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Relacionamentos - ﻿Nomeando associações</a:t>
            </a:r>
            <a:br>
              <a:rPr lang="pt-BR" dirty="0"/>
            </a:br>
            <a:endParaRPr lang="pt-BR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446106-9DE6-C842-B62B-DE2C789F3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/>
              <a:t>Uma associação pode ser nomeada;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O nome é representado como um “rótulo” colocado ao longo da linha de associação;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Um nome de associação é usualmente um verbo ou uma frase verbal.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9C1EED1-0F84-2A48-BEED-8A955328D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818" y="4758662"/>
            <a:ext cx="6235700" cy="128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9444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F6F52-740F-3346-BBF0-3823F6F9D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Multiplicidade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F17DA-CA12-DB40-A93D-C41CE7D4B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Multiplicidade refere-se ao número de instâncias de uma classe relacionada com uma instância de outra classe;</a:t>
            </a:r>
          </a:p>
          <a:p>
            <a:endParaRPr lang="pt-BR" dirty="0"/>
          </a:p>
          <a:p>
            <a:r>
              <a:rPr lang="pt-BR" dirty="0"/>
              <a:t>Para cada associação, há duas decisões a fazer, uma para cada lado da associação;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C3EA126-2282-2B46-A401-B49B609CA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9418" y="4276062"/>
            <a:ext cx="6235700" cy="128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E69A19-C9B3-EC44-9D11-A0E25B7459C7}"/>
              </a:ext>
            </a:extLst>
          </p:cNvPr>
          <p:cNvSpPr txBox="1"/>
          <p:nvPr/>
        </p:nvSpPr>
        <p:spPr>
          <a:xfrm>
            <a:off x="5814028" y="4915864"/>
            <a:ext cx="2503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*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BE2761-3D88-7A44-B701-F4FE125A73AA}"/>
              </a:ext>
            </a:extLst>
          </p:cNvPr>
          <p:cNvSpPr txBox="1"/>
          <p:nvPr/>
        </p:nvSpPr>
        <p:spPr>
          <a:xfrm>
            <a:off x="4099528" y="4903164"/>
            <a:ext cx="476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1..*</a:t>
            </a:r>
          </a:p>
        </p:txBody>
      </p:sp>
    </p:spTree>
    <p:extLst>
      <p:ext uri="{BB962C8B-B14F-4D97-AF65-F5344CB8AC3E}">
        <p14:creationId xmlns:p14="http://schemas.microsoft.com/office/powerpoint/2010/main" val="3067757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F6F52-740F-3346-BBF0-3823F6F9D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Multiplicidade</a:t>
            </a:r>
          </a:p>
        </p:txBody>
      </p:sp>
      <p:graphicFrame>
        <p:nvGraphicFramePr>
          <p:cNvPr id="5" name="Table 7">
            <a:extLst>
              <a:ext uri="{FF2B5EF4-FFF2-40B4-BE49-F238E27FC236}">
                <a16:creationId xmlns:a16="http://schemas.microsoft.com/office/drawing/2014/main" id="{21B433BC-A464-3446-AB48-760A495593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1242992"/>
              </p:ext>
            </p:extLst>
          </p:nvPr>
        </p:nvGraphicFramePr>
        <p:xfrm>
          <a:off x="914929" y="2566988"/>
          <a:ext cx="8596312" cy="259588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4298156">
                  <a:extLst>
                    <a:ext uri="{9D8B030D-6E8A-4147-A177-3AD203B41FA5}">
                      <a16:colId xmlns:a16="http://schemas.microsoft.com/office/drawing/2014/main" val="1442815550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32541209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b="0" dirty="0"/>
                        <a:t>Muitos (equivale a 0 ou mais)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b="0" dirty="0"/>
                        <a:t>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017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Zero ou mais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0..*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221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Exatamente 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259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Um ou mais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1..*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639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Zero ou 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0..1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899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Faixa especificada (ex.: entre 2 e 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2..7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413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m ou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m, 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1573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5970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F6F52-740F-3346-BBF0-3823F6F9D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Multiplicidade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8F7323-58F7-1147-B3C4-12557308F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B598CC6F-4D91-2C44-B0E7-25CD84DAE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475" y="1497496"/>
            <a:ext cx="7554383" cy="1707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0D5C91D7-8C53-1A45-9601-4F58FA17B2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476" y="3247068"/>
            <a:ext cx="7554382" cy="1707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>
            <a:extLst>
              <a:ext uri="{FF2B5EF4-FFF2-40B4-BE49-F238E27FC236}">
                <a16:creationId xmlns:a16="http://schemas.microsoft.com/office/drawing/2014/main" id="{CFFC02BE-00B0-7F4D-AC47-214B1760E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475" y="5052643"/>
            <a:ext cx="7554382" cy="1704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6148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2856CA-B391-E440-88FA-51D3B79E7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Relacionamentos - ﻿Associação Simples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446106-9DE6-C842-B62B-DE2C789F3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r>
              <a:rPr lang="pt-BR" dirty="0"/>
              <a:t>De acordo com Melo (2004), a associação é um relacionamento que conecta duas ou mais classes, demonstrando a colaboração entre as instâncias de classe;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Pode-se, também, haver um relacionamento de uma classe com ela mesma e, nesse caso, tem-se uma associação unária ou reflexiva;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20319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2856CA-B391-E440-88FA-51D3B79E7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Relacionamentos - ﻿Associação Simples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446106-9DE6-C842-B62B-DE2C789F3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/>
              <a:t>É a forma mais fraca de relacionamento entre classes:</a:t>
            </a:r>
          </a:p>
          <a:p>
            <a:pPr algn="just"/>
            <a:endParaRPr lang="pt-BR" dirty="0"/>
          </a:p>
          <a:p>
            <a:pPr lvl="1" algn="just"/>
            <a:r>
              <a:rPr lang="pt-BR" dirty="0"/>
              <a:t>As classes que participam desse relacionamento são independentes;</a:t>
            </a:r>
          </a:p>
          <a:p>
            <a:pPr lvl="1" algn="just"/>
            <a:endParaRPr lang="pt-BR" dirty="0"/>
          </a:p>
          <a:p>
            <a:pPr lvl="1" algn="just"/>
            <a:r>
              <a:rPr lang="pt-BR" dirty="0"/>
              <a:t>Pode envolver duas ou mais classes.</a:t>
            </a:r>
          </a:p>
          <a:p>
            <a:pPr marL="685800" lvl="1" algn="just"/>
            <a:endParaRPr lang="pt-BR" dirty="0"/>
          </a:p>
          <a:p>
            <a:pPr algn="just"/>
            <a:r>
              <a:rPr lang="pt-BR" dirty="0"/>
              <a:t>Representa relacionamentos “usa”:</a:t>
            </a:r>
          </a:p>
          <a:p>
            <a:pPr lvl="1" algn="just"/>
            <a:endParaRPr lang="pt-BR" dirty="0"/>
          </a:p>
          <a:p>
            <a:pPr lvl="1" algn="just"/>
            <a:r>
              <a:rPr lang="pt-BR" dirty="0"/>
              <a:t>Ex.: uma pessoa “usa um” carro;</a:t>
            </a:r>
          </a:p>
          <a:p>
            <a:pPr lvl="1"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338840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2856CA-B391-E440-88FA-51D3B79E7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Relacionamentos - ﻿Associação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446106-9DE6-C842-B62B-DE2C789F3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/>
              <a:t>No diagrama de classes, as associações:</a:t>
            </a:r>
          </a:p>
          <a:p>
            <a:pPr algn="just"/>
            <a:endParaRPr lang="pt-BR" dirty="0"/>
          </a:p>
          <a:p>
            <a:pPr lvl="1" algn="just"/>
            <a:r>
              <a:rPr lang="pt-BR" dirty="0"/>
              <a:t>São representadas como linhas conectando as classes participantes do relacionamento;</a:t>
            </a:r>
          </a:p>
          <a:p>
            <a:pPr lvl="1" algn="just"/>
            <a:endParaRPr lang="pt-BR" dirty="0"/>
          </a:p>
          <a:p>
            <a:pPr lvl="1" algn="just"/>
            <a:r>
              <a:rPr lang="pt-BR" dirty="0"/>
              <a:t>Podem ter um nome identificando a associação;</a:t>
            </a:r>
          </a:p>
          <a:p>
            <a:pPr lvl="1" algn="just"/>
            <a:endParaRPr lang="pt-BR" dirty="0"/>
          </a:p>
          <a:p>
            <a:pPr lvl="1" algn="just"/>
            <a:r>
              <a:rPr lang="pt-BR" dirty="0"/>
              <a:t>Podem ter uma seta junto ao nome indicando que a associação somente pode ser utilizada em uma única direção.</a:t>
            </a:r>
          </a:p>
        </p:txBody>
      </p:sp>
    </p:spTree>
    <p:extLst>
      <p:ext uri="{BB962C8B-B14F-4D97-AF65-F5344CB8AC3E}">
        <p14:creationId xmlns:p14="http://schemas.microsoft.com/office/powerpoint/2010/main" val="7670047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2856CA-B391-E440-88FA-51D3B79E7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Relacionamentos - ﻿Associação Simples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446106-9DE6-C842-B62B-DE2C789F3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06DBC10-A27D-6F4E-B2E7-1E44F4B1C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818" y="2160589"/>
            <a:ext cx="623570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EC31F1F-83BC-CD4A-B0BD-EF8164DE7D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818" y="4100975"/>
            <a:ext cx="623570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1026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2856CA-B391-E440-88FA-51D3B79E7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Relacionamentos - ﻿Associação Simples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446106-9DE6-C842-B62B-DE2C789F3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just"/>
            <a:r>
              <a:rPr lang="pt-BR" dirty="0"/>
              <a:t>Na implementação: um objeto A usa outro objeto B chamando um método público de B.</a:t>
            </a:r>
          </a:p>
          <a:p>
            <a:pPr lvl="1" algn="just"/>
            <a:endParaRPr lang="pt-B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ED0FB77-CDC7-2944-B989-A56F83C45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4198" y="2866286"/>
            <a:ext cx="4794250" cy="3763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88807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BB0C2-452A-4E4D-AA5C-04A552CA9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Relacionamentos - ﻿Associação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04EF0-193B-BA48-832D-FBB67A0AB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  <a:p>
            <a:pPr algn="just"/>
            <a:r>
              <a:rPr lang="pt-BR" dirty="0"/>
              <a:t>Pode-se, também, haver um relacionamento de uma classe com ela mesma e, nesse caso, tem-se uma associação unária ou reflexiva; 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A associação unária ocorre quando existe um relacionamento de uma instância de uma classe com instâncias da mesma classe.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B3D245B6-E410-3E48-9C9B-3C042576B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818" y="4495800"/>
            <a:ext cx="31877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80579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2856CA-B391-E440-88FA-51D3B79E7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Relacionamentos - ﻿Associação Simples </a:t>
            </a:r>
            <a:br>
              <a:rPr lang="pt-BR" dirty="0"/>
            </a:br>
            <a:r>
              <a:rPr lang="pt-BR" dirty="0"/>
              <a:t>Exemplo em Java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446106-9DE6-C842-B62B-DE2C789F3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7EEC9E7-46EF-6A49-9A29-32E98F86E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4290708"/>
            <a:ext cx="8207202" cy="1803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60420E71-C765-F541-9837-B4D17F2AD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324100"/>
            <a:ext cx="8207202" cy="1803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29332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39CD6-3BF3-564C-B5BA-FF7E7DEC1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Relacionamentos - ﻿Associação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3711DF2C-FA0C-C84C-8457-59BF9648C43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3549" y="2262389"/>
            <a:ext cx="5964237" cy="1596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C03967E5-2ADF-BA46-9BE0-0C31F9F2E4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3549" y="4190999"/>
            <a:ext cx="5964236" cy="1609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8385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2856CA-B391-E440-88FA-51D3B79E7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Relacionamentos - ﻿Associação Casos Especiais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446106-9DE6-C842-B62B-DE2C789F3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pt-BR" dirty="0"/>
              <a:t>Casos especiais de Associação:</a:t>
            </a:r>
          </a:p>
          <a:p>
            <a:pPr algn="just"/>
            <a:endParaRPr lang="pt-BR" dirty="0"/>
          </a:p>
          <a:p>
            <a:pPr lvl="1" algn="just"/>
            <a:r>
              <a:rPr lang="pt-BR" dirty="0"/>
              <a:t>Agregação e Composição são formas de associação que representam relacionamentos do tipo “tem um”;</a:t>
            </a:r>
          </a:p>
          <a:p>
            <a:pPr lvl="1" algn="just"/>
            <a:endParaRPr lang="pt-BR" dirty="0"/>
          </a:p>
          <a:p>
            <a:pPr lvl="1" algn="just"/>
            <a:r>
              <a:rPr lang="pt-BR" dirty="0"/>
              <a:t>Relacionamento todo-parte ⇒ Uma classe é formada por, ou contém objetos de outras classes.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Exemplos:</a:t>
            </a:r>
          </a:p>
          <a:p>
            <a:pPr algn="just"/>
            <a:endParaRPr lang="pt-BR" dirty="0"/>
          </a:p>
          <a:p>
            <a:pPr lvl="1" algn="just"/>
            <a:r>
              <a:rPr lang="pt-BR" dirty="0"/>
              <a:t>Um carro contém portas;</a:t>
            </a:r>
          </a:p>
          <a:p>
            <a:pPr marL="0" indent="0" algn="just">
              <a:buNone/>
            </a:pPr>
            <a:endParaRPr lang="pt-BR" dirty="0"/>
          </a:p>
          <a:p>
            <a:pPr lvl="1" algn="just"/>
            <a:r>
              <a:rPr lang="pt-BR" dirty="0"/>
              <a:t>Um computador é composto de CPU, teclado, mouse, monitor, ... .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828539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2856CA-B391-E440-88FA-51D3B79E7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Relacionamentos - ﻿Associação Agregação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446106-9DE6-C842-B62B-DE2C789F3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pt-BR" dirty="0"/>
          </a:p>
          <a:p>
            <a:pPr algn="just"/>
            <a:r>
              <a:rPr lang="pt-BR" dirty="0"/>
              <a:t>Agregação: relacionamento todo-parte que não satisfaz um ou mais desses critérios:</a:t>
            </a:r>
          </a:p>
          <a:p>
            <a:pPr algn="just"/>
            <a:endParaRPr lang="pt-BR" dirty="0"/>
          </a:p>
          <a:p>
            <a:pPr lvl="1" algn="just"/>
            <a:r>
              <a:rPr lang="pt-BR" dirty="0"/>
              <a:t>﻿A agregação é uma forma mais fraca de composição.</a:t>
            </a:r>
          </a:p>
          <a:p>
            <a:pPr algn="just"/>
            <a:endParaRPr lang="pt-BR" dirty="0"/>
          </a:p>
          <a:p>
            <a:pPr lvl="1" algn="just"/>
            <a:r>
              <a:rPr lang="pt-BR" dirty="0"/>
              <a:t>A destruição do objeto todo não implica a destruição do objeto parte;</a:t>
            </a:r>
          </a:p>
          <a:p>
            <a:pPr lvl="1" algn="just"/>
            <a:endParaRPr lang="pt-BR" dirty="0"/>
          </a:p>
          <a:p>
            <a:pPr lvl="1" algn="just"/>
            <a:r>
              <a:rPr lang="pt-BR" dirty="0"/>
              <a:t>Um objeto pode ser parte componente de vários outros objetos.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313911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2856CA-B391-E440-88FA-51D3B79E7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987366" cy="1320800"/>
          </a:xfrm>
        </p:spPr>
        <p:txBody>
          <a:bodyPr/>
          <a:lstStyle/>
          <a:p>
            <a:r>
              <a:rPr lang="pt-BR" dirty="0"/>
              <a:t>Relacionamentos - ﻿Associação Agregação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446106-9DE6-C842-B62B-DE2C789F3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/>
              <a:t>Representação:</a:t>
            </a:r>
          </a:p>
          <a:p>
            <a:pPr algn="just"/>
            <a:endParaRPr lang="pt-BR" dirty="0"/>
          </a:p>
          <a:p>
            <a:pPr lvl="1" algn="just"/>
            <a:r>
              <a:rPr lang="pt-BR" dirty="0"/>
              <a:t>Associação representada com um losango sem preenchimento do lado todo.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  <p:pic>
        <p:nvPicPr>
          <p:cNvPr id="10246" name="Picture 6">
            <a:extLst>
              <a:ext uri="{FF2B5EF4-FFF2-40B4-BE49-F238E27FC236}">
                <a16:creationId xmlns:a16="http://schemas.microsoft.com/office/drawing/2014/main" id="{61C7D784-16B0-4B42-B40B-BE1EA56323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3167" y="4197350"/>
            <a:ext cx="6235700" cy="139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3920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2856CA-B391-E440-88FA-51D3B79E7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987366" cy="1320800"/>
          </a:xfrm>
        </p:spPr>
        <p:txBody>
          <a:bodyPr/>
          <a:lstStyle/>
          <a:p>
            <a:r>
              <a:rPr lang="pt-BR" dirty="0"/>
              <a:t>Relacionamentos - ﻿Associação Agregação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E917471-9FC5-A249-97FC-55AF577B0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200" y="2095500"/>
            <a:ext cx="8547475" cy="228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276FD738-A3F9-4E42-8241-9C9C9659702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63" y="4360394"/>
            <a:ext cx="8596312" cy="230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DE9171-913B-A542-B2C7-2204AB2F9EE9}"/>
              </a:ext>
            </a:extLst>
          </p:cNvPr>
          <p:cNvSpPr txBox="1"/>
          <p:nvPr/>
        </p:nvSpPr>
        <p:spPr>
          <a:xfrm>
            <a:off x="4165600" y="3290500"/>
            <a:ext cx="2648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395A45-4EE3-9C41-B5D7-C3A02A90DAC1}"/>
              </a:ext>
            </a:extLst>
          </p:cNvPr>
          <p:cNvSpPr txBox="1"/>
          <p:nvPr/>
        </p:nvSpPr>
        <p:spPr>
          <a:xfrm>
            <a:off x="5841334" y="3290500"/>
            <a:ext cx="4331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1..*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4085AF-0F0C-6D40-AC41-A2F26616FF28}"/>
              </a:ext>
            </a:extLst>
          </p:cNvPr>
          <p:cNvSpPr txBox="1"/>
          <p:nvPr/>
        </p:nvSpPr>
        <p:spPr>
          <a:xfrm>
            <a:off x="4165600" y="5640000"/>
            <a:ext cx="2648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C9D130-0028-3F4B-A854-23074306B5E8}"/>
              </a:ext>
            </a:extLst>
          </p:cNvPr>
          <p:cNvSpPr txBox="1"/>
          <p:nvPr/>
        </p:nvSpPr>
        <p:spPr>
          <a:xfrm>
            <a:off x="5841334" y="5640000"/>
            <a:ext cx="4331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1..*</a:t>
            </a:r>
          </a:p>
        </p:txBody>
      </p:sp>
    </p:spTree>
    <p:extLst>
      <p:ext uri="{BB962C8B-B14F-4D97-AF65-F5344CB8AC3E}">
        <p14:creationId xmlns:p14="http://schemas.microsoft.com/office/powerpoint/2010/main" val="2807804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2856CA-B391-E440-88FA-51D3B79E7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203266" cy="1320800"/>
          </a:xfrm>
        </p:spPr>
        <p:txBody>
          <a:bodyPr/>
          <a:lstStyle/>
          <a:p>
            <a:r>
              <a:rPr lang="pt-BR" dirty="0"/>
              <a:t>Relacionamentos - ﻿Associação Composição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446106-9DE6-C842-B62B-DE2C789F3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endParaRPr lang="pt-BR" dirty="0"/>
          </a:p>
          <a:p>
            <a:pPr marL="0" indent="0" algn="just">
              <a:buNone/>
            </a:pPr>
            <a:endParaRPr lang="pt-BR" dirty="0"/>
          </a:p>
          <a:p>
            <a:pPr algn="just"/>
            <a:r>
              <a:rPr lang="pt-BR" dirty="0"/>
              <a:t>Composição: relacionamento todo-parte em que as partes não podem existir independentes do todo:</a:t>
            </a:r>
          </a:p>
          <a:p>
            <a:pPr algn="just"/>
            <a:endParaRPr lang="pt-BR" dirty="0"/>
          </a:p>
          <a:p>
            <a:pPr lvl="1" algn="just"/>
            <a:r>
              <a:rPr lang="pt-BR" dirty="0"/>
              <a:t>A composição representa um forte relacionamento, em que as partes não sobrevivem sem o todo;</a:t>
            </a:r>
          </a:p>
          <a:p>
            <a:pPr algn="just"/>
            <a:endParaRPr lang="pt-BR" dirty="0"/>
          </a:p>
          <a:p>
            <a:pPr lvl="1" algn="just"/>
            <a:r>
              <a:rPr lang="pt-BR" dirty="0"/>
              <a:t>Se o todo é destruído as partes são destruídas também;</a:t>
            </a:r>
          </a:p>
          <a:p>
            <a:pPr lvl="1" algn="just"/>
            <a:endParaRPr lang="pt-BR" dirty="0"/>
          </a:p>
          <a:p>
            <a:pPr lvl="1" algn="just"/>
            <a:r>
              <a:rPr lang="pt-BR" dirty="0"/>
              <a:t>Uma parte pode ser de um único todo por vez.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422235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2856CA-B391-E440-88FA-51D3B79E7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987366" cy="1320800"/>
          </a:xfrm>
        </p:spPr>
        <p:txBody>
          <a:bodyPr/>
          <a:lstStyle/>
          <a:p>
            <a:r>
              <a:rPr lang="pt-BR" dirty="0"/>
              <a:t>Relacionamentos - ﻿Associação Composição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446106-9DE6-C842-B62B-DE2C789F3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17202"/>
            <a:ext cx="8596668" cy="3880773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Representação:</a:t>
            </a:r>
          </a:p>
          <a:p>
            <a:pPr algn="just"/>
            <a:endParaRPr lang="pt-BR" dirty="0"/>
          </a:p>
          <a:p>
            <a:pPr lvl="1" algn="just"/>
            <a:r>
              <a:rPr lang="pt-BR" dirty="0"/>
              <a:t>Associação representada com um losango sólido do lado todo.</a:t>
            </a:r>
          </a:p>
          <a:p>
            <a:pPr lvl="1" algn="just"/>
            <a:endParaRPr lang="pt-BR" dirty="0"/>
          </a:p>
          <a:p>
            <a:pPr lvl="1" algn="just"/>
            <a:r>
              <a:rPr lang="pt-BR" dirty="0"/>
              <a:t>O lado todo deve sempre ter multiplicidade 1.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ACF639D8-1550-0F48-9D33-AEE1321DF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818" y="4229101"/>
            <a:ext cx="6235700" cy="139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3308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2856CA-B391-E440-88FA-51D3B79E7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987366" cy="1320800"/>
          </a:xfrm>
        </p:spPr>
        <p:txBody>
          <a:bodyPr/>
          <a:lstStyle/>
          <a:p>
            <a:r>
              <a:rPr lang="pt-BR" dirty="0"/>
              <a:t>Relacionamentos - ﻿Associação Composição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DBAC53B-B49A-ED49-8B80-EB1881459F3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0063" y="4539390"/>
            <a:ext cx="6573837" cy="1759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A3AF993-D763-0D47-BA1E-CA0AD79B78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0062" y="2161745"/>
            <a:ext cx="6573837" cy="1832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F0E837-9CED-0F4F-A052-B852375B11A2}"/>
              </a:ext>
            </a:extLst>
          </p:cNvPr>
          <p:cNvSpPr txBox="1"/>
          <p:nvPr/>
        </p:nvSpPr>
        <p:spPr>
          <a:xfrm>
            <a:off x="4356100" y="3152001"/>
            <a:ext cx="2648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88802D-41A7-F044-9A48-ED8780E86E3A}"/>
              </a:ext>
            </a:extLst>
          </p:cNvPr>
          <p:cNvSpPr txBox="1"/>
          <p:nvPr/>
        </p:nvSpPr>
        <p:spPr>
          <a:xfrm>
            <a:off x="5359400" y="3176200"/>
            <a:ext cx="4331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1..*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A5EECA-6B8C-D14D-A1A9-3EA494DAEB9D}"/>
              </a:ext>
            </a:extLst>
          </p:cNvPr>
          <p:cNvSpPr txBox="1"/>
          <p:nvPr/>
        </p:nvSpPr>
        <p:spPr>
          <a:xfrm>
            <a:off x="4278016" y="5476101"/>
            <a:ext cx="2648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DBD67E-57C4-1644-8A61-17667E08FD80}"/>
              </a:ext>
            </a:extLst>
          </p:cNvPr>
          <p:cNvSpPr txBox="1"/>
          <p:nvPr/>
        </p:nvSpPr>
        <p:spPr>
          <a:xfrm>
            <a:off x="5421016" y="5500300"/>
            <a:ext cx="4331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1..*</a:t>
            </a:r>
          </a:p>
        </p:txBody>
      </p:sp>
    </p:spTree>
    <p:extLst>
      <p:ext uri="{BB962C8B-B14F-4D97-AF65-F5344CB8AC3E}">
        <p14:creationId xmlns:p14="http://schemas.microsoft.com/office/powerpoint/2010/main" val="17166150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2856CA-B391-E440-88FA-51D3B79E7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987366" cy="1320800"/>
          </a:xfrm>
        </p:spPr>
        <p:txBody>
          <a:bodyPr/>
          <a:lstStyle/>
          <a:p>
            <a:r>
              <a:rPr lang="pt-BR" dirty="0"/>
              <a:t>Relacionamentos - ﻿Associação Composição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446106-9DE6-C842-B62B-DE2C789F3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A7E9F8DB-9F7E-6B45-BE24-8B69FA05FB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550" y="3098800"/>
            <a:ext cx="6235700" cy="139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97467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2856CA-B391-E440-88FA-51D3B79E7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987366" cy="1320800"/>
          </a:xfrm>
        </p:spPr>
        <p:txBody>
          <a:bodyPr/>
          <a:lstStyle/>
          <a:p>
            <a:r>
              <a:rPr lang="pt-BR" dirty="0"/>
              <a:t>Relacionamentos - ﻿Associação Agregação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446106-9DE6-C842-B62B-DE2C789F3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pt-BR" dirty="0"/>
          </a:p>
          <a:p>
            <a:pPr algn="just"/>
            <a:endParaRPr lang="pt-BR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0F4886DB-FF69-AE47-9697-EB9CA2C1A4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9167" y="3059575"/>
            <a:ext cx="6743700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97817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18408-B202-7C48-A92E-30CCD52BB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Generalização ou herança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B80BA-B0A6-0843-B024-74A7E5364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Essa associação identifica as classes-mãe (superclasse), as quais são chamadas gerais, e as classes-filhas (subclasses), as chamadas especializadas, demonstrando a ocorrência de herança e, possivelmente, de métodos polimórficos nas classes especializadas;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Representa relacionamentos entre classes do tipo “é um”;</a:t>
            </a:r>
          </a:p>
          <a:p>
            <a:pPr algn="just"/>
            <a:endParaRPr lang="pt-BR" dirty="0"/>
          </a:p>
          <a:p>
            <a:pPr lvl="1" algn="just"/>
            <a:r>
              <a:rPr lang="pt-BR" dirty="0"/>
              <a:t>Ex.: Um cachorro é um mamífero.</a:t>
            </a:r>
          </a:p>
          <a:p>
            <a:pPr lvl="1" algn="just"/>
            <a:endParaRPr lang="pt-BR" dirty="0"/>
          </a:p>
          <a:p>
            <a:pPr algn="just"/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474761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18408-B202-7C48-A92E-30CCD52BB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Generalização ou herança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B80BA-B0A6-0843-B024-74A7E5364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/>
              <a:t>Abstração de Generalização/Especialização:</a:t>
            </a:r>
          </a:p>
          <a:p>
            <a:pPr algn="just"/>
            <a:endParaRPr lang="pt-BR" dirty="0"/>
          </a:p>
          <a:p>
            <a:pPr lvl="1" algn="just"/>
            <a:r>
              <a:rPr lang="pt-BR" dirty="0"/>
              <a:t>A partir de duas ou mais classes, abstrai-se uma classe mais genérica;</a:t>
            </a:r>
          </a:p>
          <a:p>
            <a:pPr lvl="1" algn="just"/>
            <a:endParaRPr lang="pt-BR" dirty="0"/>
          </a:p>
          <a:p>
            <a:pPr lvl="1" algn="just"/>
            <a:r>
              <a:rPr lang="pt-BR" dirty="0"/>
              <a:t>Ou de uma classe geral, deriva-se outra mais específica;</a:t>
            </a:r>
          </a:p>
          <a:p>
            <a:pPr lvl="1" algn="just"/>
            <a:endParaRPr lang="pt-BR" dirty="0"/>
          </a:p>
          <a:p>
            <a:pPr lvl="1" algn="just"/>
            <a:r>
              <a:rPr lang="pt-BR" dirty="0"/>
              <a:t>Subclasses satisfazem todas as propriedades das classes as quais as mesmas </a:t>
            </a:r>
          </a:p>
          <a:p>
            <a:pPr lvl="1" algn="just"/>
            <a:r>
              <a:rPr lang="pt-BR" dirty="0"/>
              <a:t>constituem especializações;</a:t>
            </a:r>
          </a:p>
          <a:p>
            <a:pPr lvl="1" algn="just"/>
            <a:endParaRPr lang="pt-BR" dirty="0"/>
          </a:p>
          <a:p>
            <a:pPr lvl="1" algn="just"/>
            <a:r>
              <a:rPr lang="pt-BR" dirty="0"/>
              <a:t>Deve haver ao menos uma propriedade que distingue duas classes especializadas.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10886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18408-B202-7C48-A92E-30CCD52BB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Generalização ou herança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B80BA-B0A6-0843-B024-74A7E5364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No diagrama de classes, a generalização é representada por uma seta do lado da classe mais geral (classe base).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555422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18408-B202-7C48-A92E-30CCD52BB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Generalização ou herança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B80BA-B0A6-0843-B024-74A7E5364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dirty="0"/>
          </a:p>
          <a:p>
            <a:endParaRPr lang="pt-BR" dirty="0"/>
          </a:p>
          <a:p>
            <a:r>
              <a:rPr lang="pt-BR" dirty="0"/>
              <a:t>A generalização permite organizar as classes de objetos hierarquicamente;</a:t>
            </a:r>
          </a:p>
          <a:p>
            <a:endParaRPr lang="pt-BR" dirty="0"/>
          </a:p>
          <a:p>
            <a:r>
              <a:rPr lang="pt-BR" dirty="0"/>
              <a:t>Ainda, consiste numa forma de reutilização de software: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Novas classes são criadas a partir de existentes, absorvendo seus atributos e comportamentos, acrescentando recursos que necessitem.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390175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18408-B202-7C48-A92E-30CCD52BB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saber qual relacionamento deve ser utilizado?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B80BA-B0A6-0843-B024-74A7E5364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/>
              <a:t>Existem atributos ou métodos sendo aproveitados por outras classes? A subclasse “é do tipo” da superclasse?</a:t>
            </a:r>
          </a:p>
          <a:p>
            <a:pPr algn="just"/>
            <a:endParaRPr lang="pt-BR" dirty="0"/>
          </a:p>
          <a:p>
            <a:pPr marL="0" indent="0" algn="just">
              <a:buNone/>
            </a:pPr>
            <a:r>
              <a:rPr lang="pt-BR" dirty="0"/>
              <a:t>	Sim: É herança.</a:t>
            </a:r>
          </a:p>
          <a:p>
            <a:pPr marL="0" indent="0" algn="just">
              <a:buNone/>
            </a:pPr>
            <a:r>
              <a:rPr lang="pt-BR" dirty="0"/>
              <a:t>	Não: Existe todo-parte?</a:t>
            </a:r>
          </a:p>
          <a:p>
            <a:pPr marL="800100" lvl="2" indent="0" algn="just">
              <a:buNone/>
            </a:pPr>
            <a:r>
              <a:rPr lang="pt-BR" sz="1600" dirty="0"/>
              <a:t>Sim: A parte vive sem o todo?</a:t>
            </a:r>
          </a:p>
          <a:p>
            <a:pPr marL="1257300" lvl="3" indent="0" algn="just">
              <a:buNone/>
            </a:pPr>
            <a:r>
              <a:rPr lang="pt-BR" sz="1600" dirty="0"/>
              <a:t>Sim: É agregação.</a:t>
            </a:r>
          </a:p>
          <a:p>
            <a:pPr marL="1257300" lvl="3" indent="0" algn="just">
              <a:buNone/>
            </a:pPr>
            <a:r>
              <a:rPr lang="pt-BR" sz="1600" dirty="0"/>
              <a:t>Não: É composição.</a:t>
            </a:r>
          </a:p>
          <a:p>
            <a:pPr marL="800100" lvl="2" indent="0">
              <a:buNone/>
            </a:pPr>
            <a:r>
              <a:rPr lang="pt-BR" sz="1600" dirty="0"/>
              <a:t>Não: Isso é associação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40902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18408-B202-7C48-A92E-30CCD52BB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Passos para a elaboração do diagrama de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B80BA-B0A6-0843-B024-74A7E5364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dirty="0"/>
          </a:p>
          <a:p>
            <a:r>
              <a:rPr lang="pt-BR" dirty="0"/>
              <a:t>Passo 1</a:t>
            </a:r>
          </a:p>
          <a:p>
            <a:endParaRPr lang="pt-BR" dirty="0"/>
          </a:p>
          <a:p>
            <a:pPr lvl="1" algn="just"/>
            <a:r>
              <a:rPr lang="pt-BR" dirty="0"/>
              <a:t>Com base nos casos de uso definidos para o sistema de agendamento, comece fazendo uma lista das possíveis classes do sistema; </a:t>
            </a:r>
          </a:p>
          <a:p>
            <a:endParaRPr lang="pt-BR" dirty="0"/>
          </a:p>
          <a:p>
            <a:pPr lvl="1" algn="just"/>
            <a:r>
              <a:rPr lang="pt-BR" dirty="0"/>
              <a:t>Lembre-se que os relatórios não serão a classe por si só, mas, para emitir cada relatório, utilizaremos diversas classes.</a:t>
            </a:r>
          </a:p>
          <a:p>
            <a:pPr lvl="1" algn="just"/>
            <a:endParaRPr lang="pt-BR" dirty="0"/>
          </a:p>
          <a:p>
            <a:pPr lvl="1"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617997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18408-B202-7C48-A92E-30CCD52BB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Passos para a elaboração do diagrama de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B80BA-B0A6-0843-B024-74A7E5364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 lang="pt-BR" dirty="0"/>
          </a:p>
          <a:p>
            <a:pPr algn="just"/>
            <a:r>
              <a:rPr lang="pt-BR" dirty="0"/>
              <a:t>Exemplo: se o diagrama possui um caso de uso de cadastro, certamente, precisará de uma classe para armazenar os dados que serão cadastrados nesse caso de uso. </a:t>
            </a:r>
          </a:p>
          <a:p>
            <a:pPr algn="just"/>
            <a:r>
              <a:rPr lang="pt-BR" dirty="0"/>
              <a:t>Seguindo esse raciocínio, teríamos por exemplo as seguintes classes:    </a:t>
            </a:r>
          </a:p>
          <a:p>
            <a:pPr algn="just"/>
            <a:endParaRPr lang="pt-BR" dirty="0"/>
          </a:p>
          <a:p>
            <a:pPr lvl="1" algn="just"/>
            <a:r>
              <a:rPr lang="pt-BR" dirty="0"/>
              <a:t>Paciente;</a:t>
            </a:r>
          </a:p>
          <a:p>
            <a:pPr lvl="1" algn="just"/>
            <a:r>
              <a:rPr lang="pt-BR" dirty="0"/>
              <a:t>Exame;</a:t>
            </a:r>
          </a:p>
          <a:p>
            <a:pPr lvl="1" algn="just"/>
            <a:r>
              <a:rPr lang="pt-BR" dirty="0"/>
              <a:t>Pedido de Exame;</a:t>
            </a:r>
          </a:p>
          <a:p>
            <a:pPr lvl="1" algn="just"/>
            <a:r>
              <a:rPr lang="pt-BR" dirty="0"/>
              <a:t>Resultado de Exame;</a:t>
            </a:r>
          </a:p>
          <a:p>
            <a:pPr lvl="1" algn="just"/>
            <a:r>
              <a:rPr lang="pt-BR" dirty="0"/>
              <a:t>Médicos;</a:t>
            </a:r>
          </a:p>
          <a:p>
            <a:pPr lvl="1" algn="just"/>
            <a:r>
              <a:rPr lang="pt-BR" dirty="0"/>
              <a:t>Convênios;</a:t>
            </a:r>
          </a:p>
          <a:p>
            <a:pPr lvl="1" algn="just"/>
            <a:r>
              <a:rPr lang="pt-BR" dirty="0"/>
              <a:t>Cidades;</a:t>
            </a:r>
          </a:p>
          <a:p>
            <a:pPr lvl="1" algn="just"/>
            <a:r>
              <a:rPr lang="pt-BR" dirty="0" err="1"/>
              <a:t>UF’s</a:t>
            </a:r>
            <a:r>
              <a:rPr lang="pt-BR" dirty="0"/>
              <a:t>;</a:t>
            </a:r>
          </a:p>
          <a:p>
            <a:pPr lvl="1" algn="just"/>
            <a:r>
              <a:rPr lang="pt-BR" dirty="0"/>
              <a:t>Grupos de Exames.</a:t>
            </a:r>
          </a:p>
          <a:p>
            <a:pPr lvl="1"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3623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18408-B202-7C48-A92E-30CCD52BB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Passos para a elaboração do diagrama de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B80BA-B0A6-0843-B024-74A7E5364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dirty="0"/>
          </a:p>
          <a:p>
            <a:r>
              <a:rPr lang="pt-BR" dirty="0"/>
              <a:t>Passo 2</a:t>
            </a:r>
          </a:p>
          <a:p>
            <a:endParaRPr lang="pt-BR" dirty="0"/>
          </a:p>
          <a:p>
            <a:pPr lvl="1" algn="just"/>
            <a:r>
              <a:rPr lang="pt-BR" dirty="0"/>
              <a:t>Para cada uma das classes listadas, relacione os possíveis atributos de cada uma delas; </a:t>
            </a:r>
          </a:p>
          <a:p>
            <a:pPr lvl="1" algn="just"/>
            <a:endParaRPr lang="pt-BR" dirty="0"/>
          </a:p>
          <a:p>
            <a:pPr lvl="1" algn="just"/>
            <a:r>
              <a:rPr lang="pt-BR" dirty="0"/>
              <a:t>A maioria desses atributos já aparece descrita no documento de requisitos; </a:t>
            </a:r>
          </a:p>
          <a:p>
            <a:pPr lvl="1" algn="just"/>
            <a:endParaRPr lang="pt-BR" dirty="0"/>
          </a:p>
          <a:p>
            <a:pPr lvl="1" algn="just"/>
            <a:r>
              <a:rPr lang="pt-BR" dirty="0"/>
              <a:t>Nunca se esqueça de voltar ao documento de requisitos sempre que tiver dúvidas.</a:t>
            </a:r>
          </a:p>
          <a:p>
            <a:pPr lvl="1"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714896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18408-B202-7C48-A92E-30CCD52BB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Passos para a elaboração do diagrama de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B80BA-B0A6-0843-B024-74A7E5364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pt-BR" dirty="0"/>
          </a:p>
          <a:p>
            <a:r>
              <a:rPr lang="pt-BR" dirty="0"/>
              <a:t>Passo 3</a:t>
            </a:r>
          </a:p>
          <a:p>
            <a:endParaRPr lang="pt-BR" dirty="0"/>
          </a:p>
          <a:p>
            <a:pPr lvl="1" algn="just"/>
            <a:r>
              <a:rPr lang="pt-BR" dirty="0"/>
              <a:t>Para cada classe desenhada no diagrama, estabeleça o seu relacionamento com as demais. </a:t>
            </a:r>
          </a:p>
          <a:p>
            <a:pPr lvl="1" algn="just"/>
            <a:endParaRPr lang="pt-BR" dirty="0"/>
          </a:p>
          <a:p>
            <a:pPr lvl="1" algn="just"/>
            <a:r>
              <a:rPr lang="pt-BR" dirty="0"/>
              <a:t>Lembre-se dos tipos de relacionamentos: </a:t>
            </a:r>
          </a:p>
          <a:p>
            <a:pPr lvl="1" algn="just"/>
            <a:endParaRPr lang="pt-BR" dirty="0"/>
          </a:p>
          <a:p>
            <a:pPr lvl="2" algn="just"/>
            <a:r>
              <a:rPr lang="pt-BR" dirty="0"/>
              <a:t>Associação (unária e binária);</a:t>
            </a:r>
          </a:p>
          <a:p>
            <a:pPr lvl="2" algn="just"/>
            <a:r>
              <a:rPr lang="pt-BR" dirty="0"/>
              <a:t>Generalização/especialização; </a:t>
            </a:r>
          </a:p>
          <a:p>
            <a:pPr lvl="2" algn="just"/>
            <a:r>
              <a:rPr lang="pt-BR" dirty="0"/>
              <a:t>Agregação; </a:t>
            </a:r>
          </a:p>
          <a:p>
            <a:pPr lvl="2" algn="just"/>
            <a:r>
              <a:rPr lang="pt-BR" dirty="0"/>
              <a:t>Composição.</a:t>
            </a:r>
          </a:p>
        </p:txBody>
      </p:sp>
    </p:spTree>
    <p:extLst>
      <p:ext uri="{BB962C8B-B14F-4D97-AF65-F5344CB8AC3E}">
        <p14:creationId xmlns:p14="http://schemas.microsoft.com/office/powerpoint/2010/main" val="62359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18408-B202-7C48-A92E-30CCD52BB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Passos para a elaboração do diagrama de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B80BA-B0A6-0843-B024-74A7E5364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dirty="0"/>
          </a:p>
          <a:p>
            <a:r>
              <a:rPr lang="pt-BR" dirty="0"/>
              <a:t>Passo 4</a:t>
            </a:r>
          </a:p>
          <a:p>
            <a:endParaRPr lang="pt-BR" dirty="0"/>
          </a:p>
          <a:p>
            <a:pPr algn="just"/>
            <a:r>
              <a:rPr lang="pt-BR" dirty="0"/>
              <a:t>Estabeleça a multiplicidade de cada relacionamento, lembrando-se de eliminar os atributos que podem ser obtidos por meio do relacionamento.</a:t>
            </a:r>
          </a:p>
        </p:txBody>
      </p:sp>
    </p:spTree>
    <p:extLst>
      <p:ext uri="{BB962C8B-B14F-4D97-AF65-F5344CB8AC3E}">
        <p14:creationId xmlns:p14="http://schemas.microsoft.com/office/powerpoint/2010/main" val="22890218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E0198F-B176-4A42-8605-2F5BBF9A7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 de Sequência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2D436-DCDE-094F-B36B-8C2613575E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51085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27E653-86A3-9342-BEAF-1DFBA9AAF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 de Sequência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053F840-3A6C-4C49-8D93-6DBBDFF23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pt-BR" dirty="0"/>
              <a:t>Determinar a sequência de eventos que ocorrem em um determinado processo, identificando quais mensagens devem ser disparadas entre os elementos envolvidos e em que ordem;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A criação do diagrama de sequência pode ser baseada no diagrama de caso de uso e no diagrama de classes;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Em relação do diagrama de caso de uso, é importante saber que cada caso especificado refere-se a um processo disparado por um ator, o que permite a documentação do referido caso;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Já em relação ao uso do diagrama de classe, as classes contidas nele se tornam objetos no diagrama de sequência.</a:t>
            </a:r>
          </a:p>
        </p:txBody>
      </p:sp>
    </p:spTree>
    <p:extLst>
      <p:ext uri="{BB962C8B-B14F-4D97-AF65-F5344CB8AC3E}">
        <p14:creationId xmlns:p14="http://schemas.microsoft.com/office/powerpoint/2010/main" val="39554216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27E653-86A3-9342-BEAF-1DFBA9AAF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Composição do Diagrama de Sequência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053F840-3A6C-4C49-8D93-6DBBDFF23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/>
              <a:t>Atores</a:t>
            </a:r>
          </a:p>
          <a:p>
            <a:pPr algn="just"/>
            <a:endParaRPr lang="pt-BR" dirty="0"/>
          </a:p>
          <a:p>
            <a:pPr lvl="1" algn="just"/>
            <a:r>
              <a:rPr lang="pt-BR" dirty="0"/>
              <a:t>Os atores são usuários ou pessoas do meio externo que participam, tendo algum papel dentro do sistema;</a:t>
            </a:r>
          </a:p>
          <a:p>
            <a:pPr lvl="1" algn="just"/>
            <a:endParaRPr lang="pt-BR" dirty="0"/>
          </a:p>
          <a:p>
            <a:pPr lvl="1" algn="just"/>
            <a:r>
              <a:rPr lang="pt-BR" dirty="0"/>
              <a:t>Dentro do diagrama de sequência, um ator pode ser aproveitado com base no diagrama de casos de uso, gerando, assim, eventos iniciais dos processos;</a:t>
            </a:r>
          </a:p>
          <a:p>
            <a:pPr lvl="1" algn="just"/>
            <a:endParaRPr lang="pt-BR" dirty="0"/>
          </a:p>
          <a:p>
            <a:pPr lvl="1" algn="just"/>
            <a:r>
              <a:rPr lang="pt-BR" dirty="0"/>
              <a:t>A representação de um ator se dá por meio de bonecos idênticos aos do diagrama de casos de uso, mas contendo uma linha de vida logo a abaixo.</a:t>
            </a:r>
          </a:p>
        </p:txBody>
      </p:sp>
    </p:spTree>
    <p:extLst>
      <p:ext uri="{BB962C8B-B14F-4D97-AF65-F5344CB8AC3E}">
        <p14:creationId xmlns:p14="http://schemas.microsoft.com/office/powerpoint/2010/main" val="23385778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27E653-86A3-9342-BEAF-1DFBA9AAF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Composição do Diagrama de Sequência</a:t>
            </a:r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E4825ADA-7FDB-5D4E-885E-8FC47E2DB8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71711" y="2160588"/>
            <a:ext cx="1608616" cy="38814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CDDA63E-9708-7146-B401-AA4D92EB0127}"/>
              </a:ext>
            </a:extLst>
          </p:cNvPr>
          <p:cNvSpPr txBox="1"/>
          <p:nvPr/>
        </p:nvSpPr>
        <p:spPr>
          <a:xfrm>
            <a:off x="3587307" y="6087547"/>
            <a:ext cx="2776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Exemplo ator atendente.</a:t>
            </a:r>
          </a:p>
        </p:txBody>
      </p:sp>
    </p:spTree>
    <p:extLst>
      <p:ext uri="{BB962C8B-B14F-4D97-AF65-F5344CB8AC3E}">
        <p14:creationId xmlns:p14="http://schemas.microsoft.com/office/powerpoint/2010/main" val="33901954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27E653-86A3-9342-BEAF-1DFBA9AAF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Composição do Diagrama de Sequência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DDA63E-9708-7146-B401-AA4D92EB0127}"/>
              </a:ext>
            </a:extLst>
          </p:cNvPr>
          <p:cNvSpPr txBox="1"/>
          <p:nvPr/>
        </p:nvSpPr>
        <p:spPr>
          <a:xfrm>
            <a:off x="2060307" y="6041362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Exemplo linha de vida.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CB46E4-21E9-0544-BE1B-6475C8971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Linha de vida (</a:t>
            </a:r>
            <a:r>
              <a:rPr lang="pt-BR" dirty="0" err="1"/>
              <a:t>lifelines</a:t>
            </a:r>
            <a:r>
              <a:rPr lang="pt-BR" dirty="0"/>
              <a:t>)</a:t>
            </a:r>
          </a:p>
          <a:p>
            <a:endParaRPr lang="pt-BR" dirty="0"/>
          </a:p>
          <a:p>
            <a:pPr lvl="1" algn="just"/>
            <a:r>
              <a:rPr lang="pt-BR" dirty="0"/>
              <a:t>Trata-se de uma linha pontilhada que representa o tempo que um objeto existe durante um processo;</a:t>
            </a:r>
          </a:p>
          <a:p>
            <a:pPr lvl="1" algn="just"/>
            <a:endParaRPr lang="pt-BR" dirty="0"/>
          </a:p>
          <a:p>
            <a:pPr lvl="1" algn="just"/>
            <a:r>
              <a:rPr lang="pt-BR" dirty="0"/>
              <a:t>A linha de vida pode estar ligada a objetos, atores e entre outros.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5418D2-68DF-2347-B924-50C16541B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745" y="4242216"/>
            <a:ext cx="347562" cy="17991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AE7E29-C3B3-864F-917B-E2534D531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1" y="4242216"/>
            <a:ext cx="2044700" cy="18123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042E664-147F-9D4A-8C26-8B56323D5177}"/>
              </a:ext>
            </a:extLst>
          </p:cNvPr>
          <p:cNvSpPr txBox="1"/>
          <p:nvPr/>
        </p:nvSpPr>
        <p:spPr>
          <a:xfrm>
            <a:off x="4679465" y="6054564"/>
            <a:ext cx="24609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Exemplo linha de vida</a:t>
            </a:r>
          </a:p>
          <a:p>
            <a:pPr algn="ctr"/>
            <a:r>
              <a:rPr lang="pt-BR" dirty="0"/>
              <a:t>ator e classe.</a:t>
            </a:r>
          </a:p>
        </p:txBody>
      </p:sp>
    </p:spTree>
    <p:extLst>
      <p:ext uri="{BB962C8B-B14F-4D97-AF65-F5344CB8AC3E}">
        <p14:creationId xmlns:p14="http://schemas.microsoft.com/office/powerpoint/2010/main" val="691800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27E653-86A3-9342-BEAF-1DFBA9AAF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Composição do Diagrama de Sequência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CB46E4-21E9-0544-BE1B-6475C8971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Quando é necessário destruir um objeto, a linha da vida é interrompida por um X.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FC5E7E-C93A-594B-A5FC-41DB23E0C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957" y="2984500"/>
            <a:ext cx="1927421" cy="27389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DB186D-47CF-B54E-915B-73114FC5D6A3}"/>
              </a:ext>
            </a:extLst>
          </p:cNvPr>
          <p:cNvSpPr txBox="1"/>
          <p:nvPr/>
        </p:nvSpPr>
        <p:spPr>
          <a:xfrm>
            <a:off x="2917998" y="5723467"/>
            <a:ext cx="4288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Exemplo de linha de vida interrompida.</a:t>
            </a:r>
          </a:p>
        </p:txBody>
      </p:sp>
    </p:spTree>
    <p:extLst>
      <p:ext uri="{BB962C8B-B14F-4D97-AF65-F5344CB8AC3E}">
        <p14:creationId xmlns:p14="http://schemas.microsoft.com/office/powerpoint/2010/main" val="40557306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27E653-86A3-9342-BEAF-1DFBA9AAF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Composição do Diagrama de Sequência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053F840-3A6C-4C49-8D93-6DBBDFF23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5418666" cy="3880773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Foco de controle ou ativação</a:t>
            </a:r>
          </a:p>
          <a:p>
            <a:pPr lvl="1" algn="just"/>
            <a:endParaRPr lang="pt-BR" dirty="0"/>
          </a:p>
          <a:p>
            <a:pPr lvl="1" algn="just"/>
            <a:r>
              <a:rPr lang="pt-BR" dirty="0"/>
              <a:t>Para representar os momentos ativos em que   um objeto está executando um ou mais métodos, é utilizado o foco de controle;</a:t>
            </a:r>
          </a:p>
          <a:p>
            <a:pPr lvl="1" algn="just"/>
            <a:endParaRPr lang="pt-BR" dirty="0"/>
          </a:p>
          <a:p>
            <a:pPr lvl="1" algn="just"/>
            <a:r>
              <a:rPr lang="pt-BR" dirty="0"/>
              <a:t>Para representar o momento, é utilizada uma linha mais grossa sobre a linha pontilhada.</a:t>
            </a:r>
          </a:p>
          <a:p>
            <a:pPr lvl="1" algn="just"/>
            <a:endParaRPr lang="pt-BR" dirty="0"/>
          </a:p>
          <a:p>
            <a:pPr lvl="1" algn="just"/>
            <a:endParaRPr lang="pt-BR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DDB5077-6F6A-B045-BB0A-508EA1EDB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0069" y="1930400"/>
            <a:ext cx="2683933" cy="34435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4D727D-4167-EC44-B891-27A68E33F007}"/>
              </a:ext>
            </a:extLst>
          </p:cNvPr>
          <p:cNvSpPr txBox="1"/>
          <p:nvPr/>
        </p:nvSpPr>
        <p:spPr>
          <a:xfrm>
            <a:off x="6590069" y="5373937"/>
            <a:ext cx="3239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Exemplo de foco de controle.</a:t>
            </a:r>
          </a:p>
        </p:txBody>
      </p:sp>
    </p:spTree>
    <p:extLst>
      <p:ext uri="{BB962C8B-B14F-4D97-AF65-F5344CB8AC3E}">
        <p14:creationId xmlns:p14="http://schemas.microsoft.com/office/powerpoint/2010/main" val="27631904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27E653-86A3-9342-BEAF-1DFBA9AAF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Composição do Diagrama de Sequência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053F840-3A6C-4C49-8D93-6DBBDFF23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/>
              <a:t>Mensagens</a:t>
            </a:r>
          </a:p>
          <a:p>
            <a:pPr algn="just"/>
            <a:endParaRPr lang="pt-BR" dirty="0"/>
          </a:p>
          <a:p>
            <a:pPr lvl="1" algn="just"/>
            <a:r>
              <a:rPr lang="pt-BR" dirty="0"/>
              <a:t>As mensagens, dentro do diagrama de sequência,  têm o objetivo de mostrar a ocorrência de eventos.</a:t>
            </a:r>
          </a:p>
          <a:p>
            <a:pPr lvl="1" algn="just"/>
            <a:endParaRPr lang="pt-BR" dirty="0"/>
          </a:p>
          <a:p>
            <a:pPr lvl="1" algn="just"/>
            <a:r>
              <a:rPr lang="pt-BR" dirty="0"/>
              <a:t>Elas normalmente forçam a chamada de um método  entre os objetos envolvidos no processo.</a:t>
            </a:r>
          </a:p>
          <a:p>
            <a:pPr lvl="1" algn="just"/>
            <a:endParaRPr lang="pt-BR" dirty="0"/>
          </a:p>
          <a:p>
            <a:pPr lvl="1" algn="just"/>
            <a:endParaRPr lang="pt-BR" dirty="0"/>
          </a:p>
          <a:p>
            <a:pPr lvl="1"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68659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27E653-86A3-9342-BEAF-1DFBA9AAF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Composição do Diagrama de Sequência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053F840-3A6C-4C49-8D93-6DBBDFF23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just"/>
            <a:endParaRPr lang="pt-BR" dirty="0"/>
          </a:p>
          <a:p>
            <a:pPr lvl="1" algn="just"/>
            <a:endParaRPr lang="pt-BR" dirty="0"/>
          </a:p>
          <a:p>
            <a:pPr lvl="1" algn="just"/>
            <a:endParaRPr lang="pt-BR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C3745D-0950-ED4C-A06A-46DA3129D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659" y="1813636"/>
            <a:ext cx="7138542" cy="23960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E1426B-9B02-E148-B2BE-78AB3BA20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658" y="4209652"/>
            <a:ext cx="7138542" cy="2396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11097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27E653-86A3-9342-BEAF-1DFBA9AAF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Composição do Diagrama de Sequência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053F840-3A6C-4C49-8D93-6DBBDFF23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just"/>
            <a:endParaRPr lang="pt-BR" dirty="0"/>
          </a:p>
          <a:p>
            <a:pPr lvl="1" algn="just"/>
            <a:endParaRPr lang="pt-BR" dirty="0"/>
          </a:p>
          <a:p>
            <a:pPr lvl="1" algn="just"/>
            <a:endParaRPr lang="pt-B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BD899A-9A3E-2646-983E-6BBBAC45C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603" y="2089226"/>
            <a:ext cx="6722263" cy="2614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7CB230-F04C-8349-90A0-637BF27DF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603" y="2431523"/>
            <a:ext cx="6722263" cy="3984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50620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A4764-FD26-8E4A-BAAB-2BB119D71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Composição do Diagrama de Sequência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264F1-2F93-5044-B3C8-A6FB79F6D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42533"/>
            <a:ext cx="8596668" cy="4398829"/>
          </a:xfrm>
        </p:spPr>
        <p:txBody>
          <a:bodyPr/>
          <a:lstStyle/>
          <a:p>
            <a:r>
              <a:rPr lang="pt-BR" dirty="0"/>
              <a:t>Mensagens de retorno</a:t>
            </a:r>
          </a:p>
          <a:p>
            <a:pPr lvl="1"/>
            <a:endParaRPr lang="pt-BR" dirty="0"/>
          </a:p>
          <a:p>
            <a:pPr lvl="1" algn="just"/>
            <a:r>
              <a:rPr lang="pt-BR" dirty="0"/>
              <a:t>A função da mensagem de retorno é simbolizar o retorno das informações do método que a solicitou;</a:t>
            </a:r>
          </a:p>
          <a:p>
            <a:pPr lvl="1"/>
            <a:endParaRPr lang="pt-BR" dirty="0"/>
          </a:p>
          <a:p>
            <a:pPr lvl="1" algn="just"/>
            <a:r>
              <a:rPr lang="pt-BR" dirty="0"/>
              <a:t>Assim, esse retorno pode simbolizar os valores ou se o método foi executado com sucesso ou não.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EB19A4-8EBA-F342-859A-648359F32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998" y="3947583"/>
            <a:ext cx="4448246" cy="23008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020049-CD2D-A44C-927A-36520585EC4E}"/>
              </a:ext>
            </a:extLst>
          </p:cNvPr>
          <p:cNvSpPr txBox="1"/>
          <p:nvPr/>
        </p:nvSpPr>
        <p:spPr>
          <a:xfrm>
            <a:off x="3009165" y="6248400"/>
            <a:ext cx="4265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Mensagens simples entre ator e objeto.</a:t>
            </a:r>
          </a:p>
        </p:txBody>
      </p:sp>
    </p:spTree>
    <p:extLst>
      <p:ext uri="{BB962C8B-B14F-4D97-AF65-F5344CB8AC3E}">
        <p14:creationId xmlns:p14="http://schemas.microsoft.com/office/powerpoint/2010/main" val="304524661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A4764-FD26-8E4A-BAAB-2BB119D71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Composição do Diagrama de Sequência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264F1-2F93-5044-B3C8-A6FB79F6D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42533"/>
            <a:ext cx="8596668" cy="4398829"/>
          </a:xfrm>
        </p:spPr>
        <p:txBody>
          <a:bodyPr/>
          <a:lstStyle/>
          <a:p>
            <a:r>
              <a:rPr lang="pt-BR" dirty="0"/>
              <a:t>Tipos de mensagens</a:t>
            </a:r>
          </a:p>
          <a:p>
            <a:endParaRPr lang="pt-BR" dirty="0"/>
          </a:p>
          <a:p>
            <a:pPr lvl="1"/>
            <a:r>
              <a:rPr lang="pt-BR" dirty="0"/>
              <a:t>Mensagens síncronas : No momento em que um objeto (chamador) realizar o envio de uma mensagem síncrona, o objeto deverá aguardar que ela seja finalizada para que seja continuado o fluxo. 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endParaRPr lang="pt-B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020049-CD2D-A44C-927A-36520585EC4E}"/>
              </a:ext>
            </a:extLst>
          </p:cNvPr>
          <p:cNvSpPr txBox="1"/>
          <p:nvPr/>
        </p:nvSpPr>
        <p:spPr>
          <a:xfrm>
            <a:off x="3095798" y="5856696"/>
            <a:ext cx="5006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Exemplo do uso de uma mensagem síncrona.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7B24E4-0D45-C346-9E8D-D9B86AF6602A}"/>
              </a:ext>
            </a:extLst>
          </p:cNvPr>
          <p:cNvSpPr txBox="1"/>
          <p:nvPr/>
        </p:nvSpPr>
        <p:spPr>
          <a:xfrm>
            <a:off x="11938000" y="37422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D6276A-71E6-AA48-BBE3-357C305C1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276" y="3429000"/>
            <a:ext cx="3352800" cy="255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356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A4764-FD26-8E4A-BAAB-2BB119D71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Composição do Diagrama de Sequência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264F1-2F93-5044-B3C8-A6FB79F6D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42852"/>
            <a:ext cx="8596668" cy="4398829"/>
          </a:xfrm>
        </p:spPr>
        <p:txBody>
          <a:bodyPr/>
          <a:lstStyle/>
          <a:p>
            <a:r>
              <a:rPr lang="pt-BR" dirty="0"/>
              <a:t>Tipos de mensagens</a:t>
            </a:r>
          </a:p>
          <a:p>
            <a:endParaRPr lang="pt-BR" dirty="0"/>
          </a:p>
          <a:p>
            <a:pPr lvl="1" algn="just"/>
            <a:r>
              <a:rPr lang="pt-BR" dirty="0"/>
              <a:t>Mensagens assíncronas: As mensagens assíncronas são utilizadas para indicar que a execução ocorre em paralelo aos outros processos e que ela pode ter um processamento contínuo, o que retira a necessidade de aguardar por uma resposta para que o processo continue. 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endParaRPr lang="pt-B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020049-CD2D-A44C-927A-36520585EC4E}"/>
              </a:ext>
            </a:extLst>
          </p:cNvPr>
          <p:cNvSpPr txBox="1"/>
          <p:nvPr/>
        </p:nvSpPr>
        <p:spPr>
          <a:xfrm>
            <a:off x="3399610" y="6244683"/>
            <a:ext cx="5020251" cy="384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Exemplo do uso de uma mensagem assíncrona.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7B24E4-0D45-C346-9E8D-D9B86AF6602A}"/>
              </a:ext>
            </a:extLst>
          </p:cNvPr>
          <p:cNvSpPr txBox="1"/>
          <p:nvPr/>
        </p:nvSpPr>
        <p:spPr>
          <a:xfrm>
            <a:off x="11938000" y="37422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0C343C-5612-1747-AF1C-B26E4D188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7240" y="3496733"/>
            <a:ext cx="3675946" cy="27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53869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A4764-FD26-8E4A-BAAB-2BB119D71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Composição do Diagrama de Sequência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264F1-2F93-5044-B3C8-A6FB79F6D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42533"/>
            <a:ext cx="4724399" cy="4398829"/>
          </a:xfrm>
        </p:spPr>
        <p:txBody>
          <a:bodyPr/>
          <a:lstStyle/>
          <a:p>
            <a:endParaRPr lang="pt-BR" dirty="0"/>
          </a:p>
          <a:p>
            <a:r>
              <a:rPr lang="pt-BR" dirty="0" err="1"/>
              <a:t>Autochamadas</a:t>
            </a:r>
            <a:r>
              <a:rPr lang="pt-BR" dirty="0"/>
              <a:t> ou </a:t>
            </a:r>
            <a:r>
              <a:rPr lang="pt-BR" dirty="0" err="1"/>
              <a:t>autodelegações</a:t>
            </a:r>
            <a:endParaRPr lang="pt-BR" dirty="0"/>
          </a:p>
          <a:p>
            <a:endParaRPr lang="pt-BR" dirty="0"/>
          </a:p>
          <a:p>
            <a:pPr lvl="1" algn="just"/>
            <a:r>
              <a:rPr lang="pt-BR" dirty="0" err="1"/>
              <a:t>Autochamadas</a:t>
            </a:r>
            <a:r>
              <a:rPr lang="pt-BR" dirty="0"/>
              <a:t> são mensagens  que o objeto envia para ele mesmo; </a:t>
            </a:r>
          </a:p>
          <a:p>
            <a:pPr lvl="1" algn="just"/>
            <a:endParaRPr lang="pt-BR" dirty="0"/>
          </a:p>
          <a:p>
            <a:pPr lvl="1" algn="just"/>
            <a:r>
              <a:rPr lang="pt-BR" dirty="0"/>
              <a:t>A seta parte da linha da vida  e retorna ao próprio objeto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endParaRPr lang="pt-B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020049-CD2D-A44C-927A-36520585EC4E}"/>
              </a:ext>
            </a:extLst>
          </p:cNvPr>
          <p:cNvSpPr txBox="1"/>
          <p:nvPr/>
        </p:nvSpPr>
        <p:spPr>
          <a:xfrm>
            <a:off x="5587761" y="5672030"/>
            <a:ext cx="283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Exemplo </a:t>
            </a:r>
            <a:r>
              <a:rPr lang="pt-BR" dirty="0" err="1"/>
              <a:t>Autochamadas</a:t>
            </a:r>
            <a:r>
              <a:rPr lang="pt-BR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7B24E4-0D45-C346-9E8D-D9B86AF6602A}"/>
              </a:ext>
            </a:extLst>
          </p:cNvPr>
          <p:cNvSpPr txBox="1"/>
          <p:nvPr/>
        </p:nvSpPr>
        <p:spPr>
          <a:xfrm>
            <a:off x="11938000" y="37422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AC9759-3845-054D-A0E8-C1A6C1539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7761" y="1805715"/>
            <a:ext cx="2832100" cy="382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86993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A4764-FD26-8E4A-BAAB-2BB119D71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Composição do Diagrama de Sequência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264F1-2F93-5044-B3C8-A6FB79F6D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42533"/>
            <a:ext cx="4910427" cy="4398829"/>
          </a:xfrm>
        </p:spPr>
        <p:txBody>
          <a:bodyPr/>
          <a:lstStyle/>
          <a:p>
            <a:endParaRPr lang="pt-BR" dirty="0"/>
          </a:p>
          <a:p>
            <a:r>
              <a:rPr lang="pt-BR" dirty="0"/>
              <a:t>Estereótipo &lt;&lt;</a:t>
            </a:r>
            <a:r>
              <a:rPr lang="pt-BR" dirty="0" err="1"/>
              <a:t>boundary</a:t>
            </a:r>
            <a:r>
              <a:rPr lang="pt-BR" dirty="0"/>
              <a:t>&gt;&gt;</a:t>
            </a:r>
          </a:p>
          <a:p>
            <a:endParaRPr lang="pt-BR" dirty="0"/>
          </a:p>
          <a:p>
            <a:pPr lvl="1" algn="just"/>
            <a:r>
              <a:rPr lang="pt-BR" dirty="0"/>
              <a:t>Também conhecido como estereótipo de fronteira, o estereótipo &lt;&lt;</a:t>
            </a:r>
            <a:r>
              <a:rPr lang="pt-BR" dirty="0" err="1"/>
              <a:t>boundary</a:t>
            </a:r>
            <a:r>
              <a:rPr lang="pt-BR" dirty="0"/>
              <a:t>&gt;&gt; é utilizado para identificação de uma classe que comunica os atores externos e o próprio sistema;</a:t>
            </a:r>
          </a:p>
          <a:p>
            <a:pPr lvl="1" algn="just"/>
            <a:endParaRPr lang="pt-BR" dirty="0"/>
          </a:p>
          <a:p>
            <a:pPr lvl="1" algn="just"/>
            <a:r>
              <a:rPr lang="pt-BR" dirty="0"/>
              <a:t>O uso de classes &lt;&lt;</a:t>
            </a:r>
            <a:r>
              <a:rPr lang="pt-BR" dirty="0" err="1"/>
              <a:t>boundary</a:t>
            </a:r>
            <a:r>
              <a:rPr lang="pt-BR" dirty="0"/>
              <a:t>&gt;&gt; é feito quando se quer definir uma interface para o sistema.</a:t>
            </a:r>
          </a:p>
          <a:p>
            <a:pPr lvl="1"/>
            <a:endParaRPr lang="pt-BR" dirty="0"/>
          </a:p>
          <a:p>
            <a:endParaRPr lang="pt-B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020049-CD2D-A44C-927A-36520585EC4E}"/>
              </a:ext>
            </a:extLst>
          </p:cNvPr>
          <p:cNvSpPr txBox="1"/>
          <p:nvPr/>
        </p:nvSpPr>
        <p:spPr>
          <a:xfrm>
            <a:off x="5994641" y="5016500"/>
            <a:ext cx="2832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Exemplo do estereótipo &lt;&lt;</a:t>
            </a:r>
            <a:r>
              <a:rPr lang="pt-BR" dirty="0" err="1"/>
              <a:t>boundary</a:t>
            </a:r>
            <a:r>
              <a:rPr lang="pt-BR" dirty="0"/>
              <a:t>&gt;&gt;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7B24E4-0D45-C346-9E8D-D9B86AF6602A}"/>
              </a:ext>
            </a:extLst>
          </p:cNvPr>
          <p:cNvSpPr txBox="1"/>
          <p:nvPr/>
        </p:nvSpPr>
        <p:spPr>
          <a:xfrm>
            <a:off x="11938000" y="37422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1CF095-4302-2143-BE4D-290D87391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394" y="1930400"/>
            <a:ext cx="21844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8173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A4764-FD26-8E4A-BAAB-2BB119D71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Composição do Diagrama de Sequência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264F1-2F93-5044-B3C8-A6FB79F6D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42533"/>
            <a:ext cx="8596668" cy="4398829"/>
          </a:xfrm>
        </p:spPr>
        <p:txBody>
          <a:bodyPr/>
          <a:lstStyle/>
          <a:p>
            <a:endParaRPr lang="pt-BR" dirty="0"/>
          </a:p>
          <a:p>
            <a:r>
              <a:rPr lang="pt-BR" dirty="0"/>
              <a:t>Estereótipo &lt;&lt;</a:t>
            </a:r>
            <a:r>
              <a:rPr lang="pt-BR" dirty="0" err="1"/>
              <a:t>control</a:t>
            </a:r>
            <a:r>
              <a:rPr lang="pt-BR" dirty="0"/>
              <a:t>&gt;&gt;</a:t>
            </a:r>
          </a:p>
          <a:p>
            <a:endParaRPr lang="pt-BR" dirty="0"/>
          </a:p>
          <a:p>
            <a:pPr lvl="1" algn="just"/>
            <a:r>
              <a:rPr lang="pt-BR" dirty="0"/>
              <a:t>O estereótipo &lt;&lt;</a:t>
            </a:r>
            <a:r>
              <a:rPr lang="pt-BR" dirty="0" err="1"/>
              <a:t>control</a:t>
            </a:r>
            <a:r>
              <a:rPr lang="pt-BR" dirty="0"/>
              <a:t>&gt;&gt; trata-se de uma classe intermediária entre as classes &lt;&lt;</a:t>
            </a:r>
            <a:r>
              <a:rPr lang="pt-BR" dirty="0" err="1"/>
              <a:t>boundary</a:t>
            </a:r>
            <a:r>
              <a:rPr lang="pt-BR" dirty="0"/>
              <a:t>&gt;&gt; e as demais;</a:t>
            </a:r>
          </a:p>
          <a:p>
            <a:pPr lvl="1" algn="just"/>
            <a:endParaRPr lang="pt-BR" dirty="0"/>
          </a:p>
          <a:p>
            <a:pPr lvl="1" algn="just"/>
            <a:r>
              <a:rPr lang="pt-BR" dirty="0"/>
              <a:t>Seu objetivo é o de realizar uma interpretação de eventos realizados pelo objeto &lt;&lt;</a:t>
            </a:r>
            <a:r>
              <a:rPr lang="pt-BR" dirty="0" err="1"/>
              <a:t>boundary</a:t>
            </a:r>
            <a:r>
              <a:rPr lang="pt-BR" dirty="0"/>
              <a:t>&gt;&gt;, como as ações do mouse e a execução de botões, o que permite retransmitir ações aos demais objetos do sistema.</a:t>
            </a:r>
          </a:p>
          <a:p>
            <a:pPr lvl="1"/>
            <a:endParaRPr lang="pt-BR" dirty="0"/>
          </a:p>
          <a:p>
            <a:endParaRPr lang="pt-B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7B24E4-0D45-C346-9E8D-D9B86AF6602A}"/>
              </a:ext>
            </a:extLst>
          </p:cNvPr>
          <p:cNvSpPr txBox="1"/>
          <p:nvPr/>
        </p:nvSpPr>
        <p:spPr>
          <a:xfrm>
            <a:off x="11938000" y="37422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3810874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A4764-FD26-8E4A-BAAB-2BB119D71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Composição do Diagrama de Sequência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264F1-2F93-5044-B3C8-A6FB79F6D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42533"/>
            <a:ext cx="8596668" cy="4398829"/>
          </a:xfrm>
        </p:spPr>
        <p:txBody>
          <a:bodyPr/>
          <a:lstStyle/>
          <a:p>
            <a:endParaRPr lang="pt-BR" dirty="0"/>
          </a:p>
          <a:p>
            <a:pPr lvl="1"/>
            <a:endParaRPr lang="pt-BR" dirty="0"/>
          </a:p>
          <a:p>
            <a:endParaRPr lang="pt-B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020049-CD2D-A44C-927A-36520585EC4E}"/>
              </a:ext>
            </a:extLst>
          </p:cNvPr>
          <p:cNvSpPr txBox="1"/>
          <p:nvPr/>
        </p:nvSpPr>
        <p:spPr>
          <a:xfrm>
            <a:off x="1249104" y="5788222"/>
            <a:ext cx="7755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Exemplo do uso do estereótipo &lt;&lt;</a:t>
            </a:r>
            <a:r>
              <a:rPr lang="pt-BR" dirty="0" err="1"/>
              <a:t>control</a:t>
            </a:r>
            <a:r>
              <a:rPr lang="pt-BR" dirty="0"/>
              <a:t>&gt;&gt; e estereótipo &lt;&lt;</a:t>
            </a:r>
            <a:r>
              <a:rPr lang="pt-BR" dirty="0" err="1"/>
              <a:t>boundary</a:t>
            </a:r>
            <a:r>
              <a:rPr lang="pt-BR" dirty="0"/>
              <a:t>&gt;&gt;.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7B24E4-0D45-C346-9E8D-D9B86AF6602A}"/>
              </a:ext>
            </a:extLst>
          </p:cNvPr>
          <p:cNvSpPr txBox="1"/>
          <p:nvPr/>
        </p:nvSpPr>
        <p:spPr>
          <a:xfrm>
            <a:off x="11938000" y="37422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2804B5-1A21-EB4C-885F-76656E434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267" y="1895671"/>
            <a:ext cx="6071141" cy="3892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96972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A4764-FD26-8E4A-BAAB-2BB119D71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- Diagrama de Sequência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264F1-2F93-5044-B3C8-A6FB79F6D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42533"/>
            <a:ext cx="8596668" cy="4398829"/>
          </a:xfrm>
        </p:spPr>
        <p:txBody>
          <a:bodyPr/>
          <a:lstStyle/>
          <a:p>
            <a:endParaRPr lang="pt-BR" dirty="0"/>
          </a:p>
          <a:p>
            <a:pPr lvl="1"/>
            <a:endParaRPr lang="pt-BR" dirty="0"/>
          </a:p>
          <a:p>
            <a:endParaRPr lang="pt-B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020049-CD2D-A44C-927A-36520585EC4E}"/>
              </a:ext>
            </a:extLst>
          </p:cNvPr>
          <p:cNvSpPr txBox="1"/>
          <p:nvPr/>
        </p:nvSpPr>
        <p:spPr>
          <a:xfrm>
            <a:off x="1534053" y="6030861"/>
            <a:ext cx="6958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Exemplo diagrama de sequência: processo de emissão de saldo.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7B24E4-0D45-C346-9E8D-D9B86AF6602A}"/>
              </a:ext>
            </a:extLst>
          </p:cNvPr>
          <p:cNvSpPr txBox="1"/>
          <p:nvPr/>
        </p:nvSpPr>
        <p:spPr>
          <a:xfrm>
            <a:off x="11938000" y="37422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42DE8F-2C45-5E4A-9263-51DA215C6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516" y="1534023"/>
            <a:ext cx="6161617" cy="4388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2897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5D4298-4B59-CC46-9172-DF9F66282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 de Estados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122D1E-F07D-8442-A1E5-B29D89248B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966732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5D4298-4B59-CC46-9172-DF9F66282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 de Estados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70357A-EC7B-304C-A3AD-5CD486A91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r>
              <a:rPr lang="pt-BR" dirty="0"/>
              <a:t>Modelagem dirigida a eventos mostra como o sistema reage a eventos externos e internos;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É baseada na suposição de que um sistema tem um número finito de estados e que os eventos (estímulos) podem causar uma transição de um estado para outro.</a:t>
            </a:r>
            <a:endParaRPr lang="pt-BR" b="1" dirty="0"/>
          </a:p>
          <a:p>
            <a:pPr lvl="1" algn="just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65849304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5D4298-4B59-CC46-9172-DF9F66282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 de Estados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70357A-EC7B-304C-A3AD-5CD486A91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pt-BR" dirty="0"/>
          </a:p>
          <a:p>
            <a:pPr algn="just"/>
            <a:r>
              <a:rPr lang="pt-BR" dirty="0"/>
              <a:t>A UML apoia a modelagem baseada em eventos com diagramas de estado, baseados em </a:t>
            </a:r>
            <a:r>
              <a:rPr lang="pt-BR" dirty="0" err="1"/>
              <a:t>Statecharts</a:t>
            </a:r>
            <a:r>
              <a:rPr lang="pt-BR" dirty="0"/>
              <a:t> (HAREL 1987, 1988);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Os diagramas de estado mostram os estados do sistema e os eventos que causam transições de um estado para outro;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Eles não mostram o fluxo de dados dentro do sistema, mas podem incluir informações adicionais sobre os processamentos realizados em cada estado.</a:t>
            </a:r>
          </a:p>
          <a:p>
            <a:pPr lvl="1" algn="just"/>
            <a:endParaRPr lang="pt-BR" b="1" dirty="0"/>
          </a:p>
          <a:p>
            <a:pPr lvl="1" algn="just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734041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5D4298-4B59-CC46-9172-DF9F66282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 de Estados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70357A-EC7B-304C-A3AD-5CD486A91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endParaRPr lang="pt-BR" dirty="0"/>
          </a:p>
          <a:p>
            <a:pPr algn="just"/>
            <a:r>
              <a:rPr lang="pt-BR" dirty="0"/>
              <a:t>Em diagramas de estado da UML, retângulos arredondados representam os estados do sistema;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Podem incluir uma breve descrição (após ‘Faça’) das ações tomadas nesse estado;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As setas rotuladas representam estímulos que forçam uma transição de um estado para outro;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Pode-se indicar os estados inicial e final usando círculos preenchidos, como em um diagrama de atividades.</a:t>
            </a:r>
          </a:p>
          <a:p>
            <a:pPr lvl="1" algn="just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93682953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CD8243-E619-CC45-B8D4-EDE9E3C92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Diagrama de Estados</a:t>
            </a:r>
            <a:br>
              <a:rPr lang="pt-BR" dirty="0"/>
            </a:br>
            <a:endParaRPr lang="pt-BR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D073797-56E8-A44F-BDBA-2C6CC701A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C9EF81A-A812-1641-8C27-9D401B695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433" y="1818600"/>
            <a:ext cx="7239000" cy="42799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F4E448-0DA0-5340-9BC5-3A57A6C57D73}"/>
              </a:ext>
            </a:extLst>
          </p:cNvPr>
          <p:cNvSpPr txBox="1"/>
          <p:nvPr/>
        </p:nvSpPr>
        <p:spPr>
          <a:xfrm>
            <a:off x="2886700" y="6144023"/>
            <a:ext cx="4928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Diagrama de estados de um forno de micro-ondas.</a:t>
            </a:r>
          </a:p>
        </p:txBody>
      </p:sp>
    </p:spTree>
    <p:extLst>
      <p:ext uri="{BB962C8B-B14F-4D97-AF65-F5344CB8AC3E}">
        <p14:creationId xmlns:p14="http://schemas.microsoft.com/office/powerpoint/2010/main" val="102255457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CD8243-E619-CC45-B8D4-EDE9E3C92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Diagrama de Estados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D073797-56E8-A44F-BDBA-2C6CC701A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pt-BR" dirty="0"/>
          </a:p>
          <a:p>
            <a:pPr algn="just"/>
            <a:r>
              <a:rPr lang="pt-BR" dirty="0"/>
              <a:t>A notação UML permite-lhe indicar a atividade que ocorre em um estado;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Em uma especificação detalhada do sistema, é precisa fornecer mais detalhes tanto sobre os estímulos como sobre os estados do sistema.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Isso pode ser feito por meio de uma tabela, que mostra uma descrição de cada estado, e como são gerados os estímulos que forçam as transições de estado.</a:t>
            </a:r>
          </a:p>
        </p:txBody>
      </p:sp>
    </p:spTree>
    <p:extLst>
      <p:ext uri="{BB962C8B-B14F-4D97-AF65-F5344CB8AC3E}">
        <p14:creationId xmlns:p14="http://schemas.microsoft.com/office/powerpoint/2010/main" val="204911586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CD8243-E619-CC45-B8D4-EDE9E3C92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Diagrama de Estados</a:t>
            </a:r>
            <a:br>
              <a:rPr lang="pt-BR" dirty="0"/>
            </a:br>
            <a:endParaRPr lang="pt-BR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D59241-8FE2-374C-B91E-F45003316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3C0840-A4BE-3041-AE25-7AA7D5F1C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137" y="2431000"/>
            <a:ext cx="6445725" cy="31189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8EEB52A-ACD8-304B-A19B-B07AA9A10640}"/>
              </a:ext>
            </a:extLst>
          </p:cNvPr>
          <p:cNvSpPr txBox="1"/>
          <p:nvPr/>
        </p:nvSpPr>
        <p:spPr>
          <a:xfrm>
            <a:off x="4283387" y="5549900"/>
            <a:ext cx="3682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Estados para o forno de micro-ondas.</a:t>
            </a:r>
          </a:p>
        </p:txBody>
      </p:sp>
    </p:spTree>
    <p:extLst>
      <p:ext uri="{BB962C8B-B14F-4D97-AF65-F5344CB8AC3E}">
        <p14:creationId xmlns:p14="http://schemas.microsoft.com/office/powerpoint/2010/main" val="252273783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CD8243-E619-CC45-B8D4-EDE9E3C92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Diagrama de Estados</a:t>
            </a:r>
            <a:br>
              <a:rPr lang="pt-BR" dirty="0"/>
            </a:br>
            <a:endParaRPr lang="pt-BR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D59241-8FE2-374C-B91E-F45003316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67F7F3-57E2-9045-930D-06B3BB3DC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050" y="2373401"/>
            <a:ext cx="6565899" cy="32550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BDA8E59-3CFB-924F-B47A-95CDB123D0CC}"/>
              </a:ext>
            </a:extLst>
          </p:cNvPr>
          <p:cNvSpPr txBox="1"/>
          <p:nvPr/>
        </p:nvSpPr>
        <p:spPr>
          <a:xfrm>
            <a:off x="4192208" y="5718056"/>
            <a:ext cx="3865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Estímulos para o forno de micro-ondas.</a:t>
            </a:r>
          </a:p>
        </p:txBody>
      </p:sp>
    </p:spTree>
    <p:extLst>
      <p:ext uri="{BB962C8B-B14F-4D97-AF65-F5344CB8AC3E}">
        <p14:creationId xmlns:p14="http://schemas.microsoft.com/office/powerpoint/2010/main" val="149515120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CD8243-E619-CC45-B8D4-EDE9E3C92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Diagrama de Estados</a:t>
            </a:r>
            <a:br>
              <a:rPr lang="pt-BR" dirty="0"/>
            </a:br>
            <a:endParaRPr lang="pt-BR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D073797-56E8-A44F-BDBA-2C6CC701A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endParaRPr lang="pt-BR" dirty="0"/>
          </a:p>
          <a:p>
            <a:pPr algn="just"/>
            <a:r>
              <a:rPr lang="pt-BR" dirty="0"/>
              <a:t>O problema com a modelagem baseada em estados é que o número de possíveis estados aumenta rapidamente;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Para modelos de sistemas de grande porte, portanto, é necessário esconder detalhes nos modelos;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Uma maneira de fazer isso é usando a noção de um superestado que encapsula um número de estados distintos;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Esse superestado, em um modelo de alto nível, parece um único estado, mas depois, em um diagrama separado, é ampliado para mostrar mais detalhes.</a:t>
            </a:r>
          </a:p>
        </p:txBody>
      </p:sp>
    </p:spTree>
    <p:extLst>
      <p:ext uri="{BB962C8B-B14F-4D97-AF65-F5344CB8AC3E}">
        <p14:creationId xmlns:p14="http://schemas.microsoft.com/office/powerpoint/2010/main" val="7922134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5D4298-4B59-CC46-9172-DF9F66282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 de Estados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70357A-EC7B-304C-A3AD-5CD486A91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pt-BR" dirty="0"/>
          </a:p>
          <a:p>
            <a:pPr algn="just"/>
            <a:r>
              <a:rPr lang="pt-BR" dirty="0"/>
              <a:t>Exemplo modelagem dirigida a eventos:</a:t>
            </a:r>
          </a:p>
          <a:p>
            <a:pPr algn="just"/>
            <a:endParaRPr lang="pt-BR" dirty="0"/>
          </a:p>
          <a:p>
            <a:pPr lvl="1" algn="just"/>
            <a:r>
              <a:rPr lang="pt-BR" dirty="0"/>
              <a:t>Software de controle para um forno de micro-ondas;</a:t>
            </a:r>
          </a:p>
          <a:p>
            <a:pPr lvl="1" algn="just"/>
            <a:endParaRPr lang="pt-BR" dirty="0"/>
          </a:p>
          <a:p>
            <a:pPr lvl="1" algn="just"/>
            <a:r>
              <a:rPr lang="pt-BR" dirty="0"/>
              <a:t>O micro-ondas do exemplo tem um interruptor para selecionar potência total ou meia, um teclado numérico para inserir o tempo de cozimento, um botão iniciar/cancelar e um display alfanumérico;</a:t>
            </a:r>
          </a:p>
          <a:p>
            <a:pPr lvl="1" algn="just"/>
            <a:endParaRPr lang="pt-BR" b="1" dirty="0"/>
          </a:p>
          <a:p>
            <a:pPr lvl="1" algn="just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64840200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5D4298-4B59-CC46-9172-DF9F66282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modelagem dirigida a eventos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70357A-EC7B-304C-A3AD-5CD486A91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endParaRPr lang="pt-BR" dirty="0"/>
          </a:p>
          <a:p>
            <a:pPr algn="just"/>
            <a:endParaRPr lang="pt-BR" dirty="0"/>
          </a:p>
          <a:p>
            <a:pPr algn="just"/>
            <a:r>
              <a:rPr lang="pt-BR" dirty="0"/>
              <a:t>Software de controle para um forno de micro-ondas;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O micro-ondas do exemplo tem um interruptor para selecionar potência total ou meia, um teclado numérico para inserir o tempo de cozimento, um botão iniciar/cancelar e um display alfanumérico;</a:t>
            </a:r>
          </a:p>
          <a:p>
            <a:pPr lvl="1" algn="just"/>
            <a:endParaRPr lang="pt-BR" b="1" dirty="0"/>
          </a:p>
          <a:p>
            <a:pPr lvl="1" algn="just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428607974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5D4298-4B59-CC46-9172-DF9F66282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modelagem dirigida a eventos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70357A-EC7B-304C-A3AD-5CD486A91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endParaRPr lang="pt-BR" dirty="0"/>
          </a:p>
          <a:p>
            <a:pPr algn="just"/>
            <a:r>
              <a:rPr lang="pt-BR" dirty="0"/>
              <a:t>Assumir que a sequência de ações no uso do micro-ondas seja:</a:t>
            </a:r>
          </a:p>
          <a:p>
            <a:pPr lvl="1" algn="just"/>
            <a:endParaRPr lang="pt-BR" dirty="0"/>
          </a:p>
          <a:p>
            <a:pPr marL="971550" lvl="1" indent="-457200" algn="just">
              <a:buFont typeface="+mj-lt"/>
              <a:buAutoNum type="arabicPeriod"/>
            </a:pPr>
            <a:r>
              <a:rPr lang="pt-BR" dirty="0"/>
              <a:t>Selecionar o nível de potência (ou meia potência ou potência total);</a:t>
            </a:r>
          </a:p>
          <a:p>
            <a:pPr marL="971550" lvl="1" indent="-457200" algn="just">
              <a:buFont typeface="+mj-lt"/>
              <a:buAutoNum type="arabicPeriod"/>
            </a:pPr>
            <a:endParaRPr lang="pt-BR" dirty="0"/>
          </a:p>
          <a:p>
            <a:pPr marL="971550" lvl="1" indent="-457200" algn="just">
              <a:buFont typeface="+mj-lt"/>
              <a:buAutoNum type="arabicPeriod"/>
            </a:pPr>
            <a:r>
              <a:rPr lang="pt-BR" dirty="0"/>
              <a:t>Introduzir o tempo de cozimento usando um teclado numérico;</a:t>
            </a:r>
          </a:p>
          <a:p>
            <a:pPr marL="971550" lvl="1" indent="-457200" algn="just">
              <a:buFont typeface="+mj-lt"/>
              <a:buAutoNum type="arabicPeriod"/>
            </a:pPr>
            <a:endParaRPr lang="pt-BR" dirty="0"/>
          </a:p>
          <a:p>
            <a:pPr marL="971550" lvl="1" indent="-457200" algn="just">
              <a:buFont typeface="+mj-lt"/>
              <a:buAutoNum type="arabicPeriod"/>
            </a:pPr>
            <a:r>
              <a:rPr lang="pt-BR" dirty="0"/>
              <a:t>Pressionar ‘Iniciar’, e os alimentos são cozidos para o tempo selecionado;</a:t>
            </a:r>
          </a:p>
          <a:p>
            <a:pPr marL="514350" lvl="1" indent="0" algn="just">
              <a:buNone/>
            </a:pPr>
            <a:endParaRPr lang="pt-BR" dirty="0"/>
          </a:p>
          <a:p>
            <a:pPr lvl="1" algn="just"/>
            <a:endParaRPr lang="pt-BR" b="1" dirty="0"/>
          </a:p>
          <a:p>
            <a:pPr lvl="1" algn="just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22413061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5D4298-4B59-CC46-9172-DF9F66282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modelagem dirigida a eventos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70357A-EC7B-304C-A3AD-5CD486A91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pt-BR" dirty="0"/>
              <a:t>Assumir que a sequência de ações no uso do micro-ondas seja:</a:t>
            </a:r>
          </a:p>
          <a:p>
            <a:pPr algn="just"/>
            <a:endParaRPr lang="pt-BR" dirty="0"/>
          </a:p>
          <a:p>
            <a:pPr marL="971550" lvl="1" indent="-457200" algn="just">
              <a:buFont typeface="+mj-lt"/>
              <a:buAutoNum type="arabicPeriod"/>
            </a:pPr>
            <a:r>
              <a:rPr lang="pt-BR" dirty="0"/>
              <a:t>Selecionar o nível de potência (ou meia potência ou potência total);</a:t>
            </a:r>
          </a:p>
          <a:p>
            <a:pPr marL="971550" lvl="1" indent="-457200" algn="just">
              <a:buFont typeface="+mj-lt"/>
              <a:buAutoNum type="arabicPeriod"/>
            </a:pPr>
            <a:endParaRPr lang="pt-BR" dirty="0"/>
          </a:p>
          <a:p>
            <a:pPr marL="971550" lvl="1" indent="-457200" algn="just">
              <a:buFont typeface="+mj-lt"/>
              <a:buAutoNum type="arabicPeriod"/>
            </a:pPr>
            <a:r>
              <a:rPr lang="pt-BR" dirty="0"/>
              <a:t>Introduzir o tempo de cozimento usando um teclado numérico;</a:t>
            </a:r>
          </a:p>
          <a:p>
            <a:pPr marL="971550" lvl="1" indent="-457200" algn="just">
              <a:buFont typeface="+mj-lt"/>
              <a:buAutoNum type="arabicPeriod"/>
            </a:pPr>
            <a:endParaRPr lang="pt-BR" dirty="0"/>
          </a:p>
          <a:p>
            <a:pPr marL="971550" lvl="1" indent="-457200" algn="just">
              <a:buFont typeface="+mj-lt"/>
              <a:buAutoNum type="arabicPeriod"/>
            </a:pPr>
            <a:r>
              <a:rPr lang="pt-BR" dirty="0"/>
              <a:t>Pressionar ‘Iniciar’, e os alimentos são cozidos para o tempo selecionado;</a:t>
            </a:r>
          </a:p>
          <a:p>
            <a:pPr marL="971550" lvl="1" indent="-457200" algn="just">
              <a:buFont typeface="+mj-lt"/>
              <a:buAutoNum type="arabicPeriod"/>
            </a:pPr>
            <a:endParaRPr lang="pt-BR" dirty="0"/>
          </a:p>
          <a:p>
            <a:pPr algn="just"/>
            <a:r>
              <a:rPr lang="pt-BR" dirty="0"/>
              <a:t>Por razões de segurança, o forno não deve operar quando a porta está aberta e, no fim do cozimento, uma campainha é acionada;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O forno tem um display alfanumérico muito simples, que é usado para mostrar vários alertas e mensagens de advertência.</a:t>
            </a:r>
          </a:p>
          <a:p>
            <a:pPr lvl="1" algn="just"/>
            <a:endParaRPr lang="pt-BR" b="1" dirty="0"/>
          </a:p>
          <a:p>
            <a:pPr lvl="1" algn="just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49363430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CD8243-E619-CC45-B8D4-EDE9E3C92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Diagrama de Estados</a:t>
            </a:r>
            <a:br>
              <a:rPr lang="pt-BR" dirty="0"/>
            </a:br>
            <a:endParaRPr lang="pt-BR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D073797-56E8-A44F-BDBA-2C6CC701A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C9EF81A-A812-1641-8C27-9D401B695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433" y="1818600"/>
            <a:ext cx="7239000" cy="42799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F4E448-0DA0-5340-9BC5-3A57A6C57D73}"/>
              </a:ext>
            </a:extLst>
          </p:cNvPr>
          <p:cNvSpPr txBox="1"/>
          <p:nvPr/>
        </p:nvSpPr>
        <p:spPr>
          <a:xfrm>
            <a:off x="2886700" y="6144023"/>
            <a:ext cx="4928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Diagrama de estados de um forno de micro-ondas.</a:t>
            </a:r>
          </a:p>
        </p:txBody>
      </p:sp>
    </p:spTree>
    <p:extLst>
      <p:ext uri="{BB962C8B-B14F-4D97-AF65-F5344CB8AC3E}">
        <p14:creationId xmlns:p14="http://schemas.microsoft.com/office/powerpoint/2010/main" val="361008923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FDE1E-F293-B444-8B22-6B67237D9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Diagramas de Atividades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CCB4FE-4365-1847-A49D-6EC364221D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472828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FDE1E-F293-B444-8B22-6B67237D9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Diagramas de Atividades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7957D-1C9C-AC49-9B49-A6D2F5512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pt-BR" dirty="0"/>
          </a:p>
          <a:p>
            <a:pPr algn="just"/>
            <a:r>
              <a:rPr lang="pt-BR" dirty="0"/>
              <a:t>Modelos dirigidos a dados mostram a sequência de ações envolvidas no processamento de dados de entrada e a geração de uma saída associada;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São particularmente úteis durante a análise de requisitos, pois podem ser usados para mostrar, do início ao fim, o processamento de um sistema.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Mostram toda a sequência de ações, desde uma entrada sendo processada até a saída correspondente, que é a resposta do sistema.</a:t>
            </a:r>
          </a:p>
        </p:txBody>
      </p:sp>
    </p:spTree>
    <p:extLst>
      <p:ext uri="{BB962C8B-B14F-4D97-AF65-F5344CB8AC3E}">
        <p14:creationId xmlns:p14="http://schemas.microsoft.com/office/powerpoint/2010/main" val="132602431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FDE1E-F293-B444-8B22-6B67237D9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Diagramas de Atividades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7957D-1C9C-AC49-9B49-A6D2F5512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pt-BR" dirty="0"/>
          </a:p>
          <a:p>
            <a:pPr algn="just"/>
            <a:r>
              <a:rPr lang="pt-BR" dirty="0"/>
              <a:t>A UML não oferece apoio a diagramas de fluxo de dados, pois estes foram inicialmente propostos e usados para modelagem de processamento de dados;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No entanto, devido aos sistemas dirigidos a dados serem tão comuns no mundo dos negócios, a UML 2.0 introduziu diagramas de atividades, semelhantes a diagramas de fluxo de dados.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Os diagramas de atividades ajudam na modelagem de atividades que podem ser um método, ou um algoritmo ou mesmo um processo completo;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6376340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FDE1E-F293-B444-8B22-6B67237D9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Diagramas de Atividades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7957D-1C9C-AC49-9B49-A6D2F5512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O diagrama de atividades ajuda na modelagem de atividades que podem ser um método, ou um algoritmo ou mesmo um processo completo;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O uso do diagrama de atividades está ligado, também, a descrição de computação procedural, a modelagem organizacional para engenharia de processos e ao workflow.</a:t>
            </a:r>
          </a:p>
        </p:txBody>
      </p:sp>
    </p:spTree>
    <p:extLst>
      <p:ext uri="{BB962C8B-B14F-4D97-AF65-F5344CB8AC3E}">
        <p14:creationId xmlns:p14="http://schemas.microsoft.com/office/powerpoint/2010/main" val="217813968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FDE1E-F293-B444-8B22-6B67237D9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35466"/>
            <a:ext cx="8596668" cy="1320800"/>
          </a:xfrm>
        </p:spPr>
        <p:txBody>
          <a:bodyPr/>
          <a:lstStyle/>
          <a:p>
            <a:r>
              <a:rPr lang="pt-BR" dirty="0"/>
              <a:t>Diagramas de Atividades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4702B79-97BD-A04E-A045-C53CC453BE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7998" y="1058199"/>
            <a:ext cx="4668134" cy="54643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2A75F9-67F4-8846-86FA-0A11291C5B17}"/>
              </a:ext>
            </a:extLst>
          </p:cNvPr>
          <p:cNvSpPr txBox="1"/>
          <p:nvPr/>
        </p:nvSpPr>
        <p:spPr>
          <a:xfrm>
            <a:off x="2163007" y="6337868"/>
            <a:ext cx="6748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Diagrama de atividade UML demonstrando como fazer um bolo.</a:t>
            </a:r>
          </a:p>
        </p:txBody>
      </p:sp>
    </p:spTree>
    <p:extLst>
      <p:ext uri="{BB962C8B-B14F-4D97-AF65-F5344CB8AC3E}">
        <p14:creationId xmlns:p14="http://schemas.microsoft.com/office/powerpoint/2010/main" val="420960548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01DD1-F4C1-D447-849C-E7B23D206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8E436-5530-6B41-B6A9-733FE51B3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pt-BR" dirty="0"/>
              <a:t>ERICKSON, John; SIAU, </a:t>
            </a:r>
            <a:r>
              <a:rPr lang="pt-BR" dirty="0" err="1"/>
              <a:t>Keng</a:t>
            </a:r>
            <a:r>
              <a:rPr lang="pt-BR" dirty="0"/>
              <a:t>. </a:t>
            </a:r>
            <a:r>
              <a:rPr lang="pt-BR" b="1" dirty="0" err="1"/>
              <a:t>Can</a:t>
            </a:r>
            <a:r>
              <a:rPr lang="pt-BR" b="1" dirty="0"/>
              <a:t> UML Be </a:t>
            </a:r>
            <a:r>
              <a:rPr lang="pt-BR" b="1" dirty="0" err="1"/>
              <a:t>Simplified</a:t>
            </a:r>
            <a:r>
              <a:rPr lang="pt-BR" b="1" dirty="0"/>
              <a:t>? </a:t>
            </a:r>
            <a:r>
              <a:rPr lang="pt-BR" b="1" dirty="0" err="1"/>
              <a:t>Practitioner</a:t>
            </a:r>
            <a:r>
              <a:rPr lang="pt-BR" b="1" dirty="0"/>
              <a:t> Use of UML in </a:t>
            </a:r>
            <a:r>
              <a:rPr lang="pt-BR" b="1" dirty="0" err="1"/>
              <a:t>Separate</a:t>
            </a:r>
            <a:r>
              <a:rPr lang="pt-BR" b="1" dirty="0"/>
              <a:t> </a:t>
            </a:r>
            <a:r>
              <a:rPr lang="pt-BR" b="1" dirty="0" err="1"/>
              <a:t>Domains</a:t>
            </a:r>
            <a:r>
              <a:rPr lang="pt-BR" dirty="0"/>
              <a:t>. In: EMMSAD. 2007. p. 87-96..</a:t>
            </a:r>
          </a:p>
          <a:p>
            <a:pPr algn="just"/>
            <a:endParaRPr lang="pt-BR" dirty="0"/>
          </a:p>
          <a:p>
            <a:pPr algn="just"/>
            <a:r>
              <a:rPr lang="en-US" dirty="0"/>
              <a:t>PRESSMAN, Roger S.; MAXIM, Bruce R. </a:t>
            </a:r>
            <a:r>
              <a:rPr lang="en-US" b="1" dirty="0"/>
              <a:t> </a:t>
            </a:r>
            <a:r>
              <a:rPr lang="en-US" b="1" dirty="0" err="1"/>
              <a:t>Engenharia</a:t>
            </a:r>
            <a:r>
              <a:rPr lang="en-US" b="1" dirty="0"/>
              <a:t> de software : </a:t>
            </a:r>
            <a:r>
              <a:rPr lang="en-US" b="1" dirty="0" err="1"/>
              <a:t>uma</a:t>
            </a:r>
            <a:r>
              <a:rPr lang="en-US" b="1" dirty="0"/>
              <a:t> </a:t>
            </a:r>
            <a:r>
              <a:rPr lang="en-US" b="1" dirty="0" err="1"/>
              <a:t>abordagem</a:t>
            </a:r>
            <a:r>
              <a:rPr lang="en-US" b="1" dirty="0"/>
              <a:t> </a:t>
            </a:r>
            <a:r>
              <a:rPr lang="en-US" b="1" dirty="0" err="1"/>
              <a:t>profissional</a:t>
            </a:r>
            <a:r>
              <a:rPr lang="en-US" dirty="0"/>
              <a:t>. 8. ed. – Porto Alegre : AMGH, 2016.</a:t>
            </a:r>
            <a:endParaRPr lang="pt-BR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STAIR, Ralph M.; REYNOLDS, George W. </a:t>
            </a:r>
            <a:r>
              <a:rPr lang="en-US" b="1" dirty="0" err="1"/>
              <a:t>Princípios</a:t>
            </a:r>
            <a:r>
              <a:rPr lang="en-US" b="1" dirty="0"/>
              <a:t> de </a:t>
            </a:r>
            <a:r>
              <a:rPr lang="en-US" b="1" dirty="0" err="1"/>
              <a:t>Sistemas</a:t>
            </a:r>
            <a:r>
              <a:rPr lang="en-US" b="1" dirty="0"/>
              <a:t> de </a:t>
            </a:r>
            <a:r>
              <a:rPr lang="en-US" b="1" dirty="0" err="1"/>
              <a:t>Informação</a:t>
            </a:r>
            <a:r>
              <a:rPr lang="en-US" b="1" dirty="0"/>
              <a:t>. 11ª </a:t>
            </a:r>
            <a:r>
              <a:rPr lang="en-US" b="1" dirty="0" err="1"/>
              <a:t>edição</a:t>
            </a:r>
            <a:r>
              <a:rPr lang="en-US" b="1" dirty="0"/>
              <a:t>.</a:t>
            </a:r>
            <a:r>
              <a:rPr lang="en-US" dirty="0"/>
              <a:t> São Paulo: Cengage Learning, 2015.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SOMMERVILLE, Ian. </a:t>
            </a:r>
            <a:r>
              <a:rPr lang="en-US" b="1" dirty="0" err="1"/>
              <a:t>Engenharia</a:t>
            </a:r>
            <a:r>
              <a:rPr lang="en-US" b="1" dirty="0"/>
              <a:t> de Software</a:t>
            </a:r>
            <a:r>
              <a:rPr lang="en-US" dirty="0"/>
              <a:t>. 10ª </a:t>
            </a:r>
            <a:r>
              <a:rPr lang="en-US" dirty="0" err="1"/>
              <a:t>Edição</a:t>
            </a:r>
            <a:r>
              <a:rPr lang="en-US" dirty="0"/>
              <a:t>. 2018.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WAZLAWICK, R. S. </a:t>
            </a:r>
            <a:r>
              <a:rPr lang="en-US" b="1" dirty="0" err="1"/>
              <a:t>Análise</a:t>
            </a:r>
            <a:r>
              <a:rPr lang="en-US" b="1" dirty="0"/>
              <a:t> e </a:t>
            </a:r>
            <a:r>
              <a:rPr lang="en-US" b="1" dirty="0" err="1"/>
              <a:t>projeto</a:t>
            </a:r>
            <a:r>
              <a:rPr lang="en-US" b="1" dirty="0"/>
              <a:t> de </a:t>
            </a:r>
            <a:r>
              <a:rPr lang="en-US" b="1" dirty="0" err="1"/>
              <a:t>sistemas</a:t>
            </a:r>
            <a:r>
              <a:rPr lang="en-US" b="1" dirty="0"/>
              <a:t> de </a:t>
            </a:r>
            <a:r>
              <a:rPr lang="en-US" b="1" dirty="0" err="1"/>
              <a:t>informação</a:t>
            </a:r>
            <a:r>
              <a:rPr lang="en-US" b="1" dirty="0"/>
              <a:t> </a:t>
            </a:r>
            <a:r>
              <a:rPr lang="en-US" b="1" dirty="0" err="1"/>
              <a:t>orientados</a:t>
            </a:r>
            <a:r>
              <a:rPr lang="en-US" b="1" dirty="0"/>
              <a:t> a </a:t>
            </a:r>
            <a:r>
              <a:rPr lang="en-US" b="1" dirty="0" err="1"/>
              <a:t>objetos</a:t>
            </a:r>
            <a:r>
              <a:rPr lang="en-US" dirty="0"/>
              <a:t>. 2. ed. Rio de Janeiro: Elsevier, 2011. 330 p. (Série, SBC - </a:t>
            </a:r>
            <a:r>
              <a:rPr lang="en-US" dirty="0" err="1"/>
              <a:t>Sociedade</a:t>
            </a:r>
            <a:r>
              <a:rPr lang="en-US" dirty="0"/>
              <a:t> </a:t>
            </a:r>
            <a:r>
              <a:rPr lang="en-US" dirty="0" err="1"/>
              <a:t>Brasileira</a:t>
            </a:r>
            <a:r>
              <a:rPr lang="en-US" dirty="0"/>
              <a:t> de </a:t>
            </a:r>
            <a:r>
              <a:rPr lang="en-US" dirty="0" err="1"/>
              <a:t>Computação</a:t>
            </a:r>
            <a:r>
              <a:rPr lang="en-US" dirty="0"/>
              <a:t>). ISBN 8535239164 (broch.).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1112262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{5161399E-A2D5-354F-86E2-9395345EE8A0}tf10001060</Template>
  <TotalTime>2876</TotalTime>
  <Words>3316</Words>
  <Application>Microsoft Macintosh PowerPoint</Application>
  <PresentationFormat>Widescreen</PresentationFormat>
  <Paragraphs>506</Paragraphs>
  <Slides>82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6" baseType="lpstr">
      <vt:lpstr>Arial</vt:lpstr>
      <vt:lpstr>Trebuchet MS</vt:lpstr>
      <vt:lpstr>Wingdings 3</vt:lpstr>
      <vt:lpstr>Facet</vt:lpstr>
      <vt:lpstr>Diagramas de Sistemas</vt:lpstr>
      <vt:lpstr>Diagramas de Sistemas</vt:lpstr>
      <vt:lpstr>Diagramas de Sistemas</vt:lpstr>
      <vt:lpstr>Diagrama de classes </vt:lpstr>
      <vt:lpstr>Diagrama de classes </vt:lpstr>
      <vt:lpstr>Modelando uma classe no Diagrama</vt:lpstr>
      <vt:lpstr>Modelando uma classe no Diagrama</vt:lpstr>
      <vt:lpstr>Modelando uma classe no Diagrama</vt:lpstr>
      <vt:lpstr>Modelando uma classe no Diagrama</vt:lpstr>
      <vt:lpstr>Relacionamentos</vt:lpstr>
      <vt:lpstr>Relacionamentos</vt:lpstr>
      <vt:lpstr>Relacionamentos - Tipos</vt:lpstr>
      <vt:lpstr>Relacionamentos - Tipos</vt:lpstr>
      <vt:lpstr>Relacionamentos - ﻿Nomeando associações </vt:lpstr>
      <vt:lpstr>Multiplicidade</vt:lpstr>
      <vt:lpstr>Multiplicidade</vt:lpstr>
      <vt:lpstr>Multiplicidade</vt:lpstr>
      <vt:lpstr>Relacionamentos - ﻿Associação Simples</vt:lpstr>
      <vt:lpstr>Relacionamentos - ﻿Associação Simples</vt:lpstr>
      <vt:lpstr>Relacionamentos - ﻿Associação</vt:lpstr>
      <vt:lpstr>Relacionamentos - ﻿Associação Simples</vt:lpstr>
      <vt:lpstr>Relacionamentos - ﻿Associação Simples</vt:lpstr>
      <vt:lpstr>Relacionamentos - ﻿Associação</vt:lpstr>
      <vt:lpstr>Relacionamentos - ﻿Associação Simples  Exemplo em Java</vt:lpstr>
      <vt:lpstr>Relacionamentos - ﻿Associação</vt:lpstr>
      <vt:lpstr>Relacionamentos - ﻿Associação Casos Especiais</vt:lpstr>
      <vt:lpstr>Relacionamentos - ﻿Associação Agregação</vt:lpstr>
      <vt:lpstr>Relacionamentos - ﻿Associação Agregação</vt:lpstr>
      <vt:lpstr>Relacionamentos - ﻿Associação Agregação</vt:lpstr>
      <vt:lpstr>Relacionamentos - ﻿Associação Composição</vt:lpstr>
      <vt:lpstr>Relacionamentos - ﻿Associação Composição</vt:lpstr>
      <vt:lpstr>Relacionamentos - ﻿Associação Composição</vt:lpstr>
      <vt:lpstr>Relacionamentos - ﻿Associação Composição</vt:lpstr>
      <vt:lpstr>Relacionamentos - ﻿Associação Agregação</vt:lpstr>
      <vt:lpstr>Generalização ou herança</vt:lpstr>
      <vt:lpstr>Generalização ou herança</vt:lpstr>
      <vt:lpstr>Generalização ou herança</vt:lpstr>
      <vt:lpstr>Generalização ou herança</vt:lpstr>
      <vt:lpstr>Como saber qual relacionamento deve ser utilizado?</vt:lpstr>
      <vt:lpstr>Passos para a elaboração do diagrama de classes</vt:lpstr>
      <vt:lpstr>Passos para a elaboração do diagrama de classes</vt:lpstr>
      <vt:lpstr>Passos para a elaboração do diagrama de classes</vt:lpstr>
      <vt:lpstr>Passos para a elaboração do diagrama de classes</vt:lpstr>
      <vt:lpstr>Passos para a elaboração do diagrama de classes</vt:lpstr>
      <vt:lpstr>Diagrama de Sequência</vt:lpstr>
      <vt:lpstr>Diagrama de Sequência</vt:lpstr>
      <vt:lpstr>Composição do Diagrama de Sequência</vt:lpstr>
      <vt:lpstr>Composição do Diagrama de Sequência</vt:lpstr>
      <vt:lpstr>Composição do Diagrama de Sequência</vt:lpstr>
      <vt:lpstr>Composição do Diagrama de Sequência</vt:lpstr>
      <vt:lpstr>Composição do Diagrama de Sequência</vt:lpstr>
      <vt:lpstr>Composição do Diagrama de Sequência</vt:lpstr>
      <vt:lpstr>Composição do Diagrama de Sequência</vt:lpstr>
      <vt:lpstr>Composição do Diagrama de Sequência</vt:lpstr>
      <vt:lpstr>Composição do Diagrama de Sequência</vt:lpstr>
      <vt:lpstr>Composição do Diagrama de Sequência</vt:lpstr>
      <vt:lpstr>Composição do Diagrama de Sequência</vt:lpstr>
      <vt:lpstr>Composição do Diagrama de Sequência</vt:lpstr>
      <vt:lpstr>Composição do Diagrama de Sequência</vt:lpstr>
      <vt:lpstr>Composição do Diagrama de Sequência</vt:lpstr>
      <vt:lpstr>Composição do Diagrama de Sequência</vt:lpstr>
      <vt:lpstr>Exemplo - Diagrama de Sequência</vt:lpstr>
      <vt:lpstr>Diagrama de Estados</vt:lpstr>
      <vt:lpstr>Diagrama de Estados</vt:lpstr>
      <vt:lpstr>Diagrama de Estados</vt:lpstr>
      <vt:lpstr>Diagrama de Estados</vt:lpstr>
      <vt:lpstr>Diagrama de Estados </vt:lpstr>
      <vt:lpstr>Diagrama de Estados</vt:lpstr>
      <vt:lpstr>Diagrama de Estados </vt:lpstr>
      <vt:lpstr>Diagrama de Estados </vt:lpstr>
      <vt:lpstr>Diagrama de Estados </vt:lpstr>
      <vt:lpstr>Diagrama de Estados</vt:lpstr>
      <vt:lpstr>Exemplo modelagem dirigida a eventos</vt:lpstr>
      <vt:lpstr>Exemplo modelagem dirigida a eventos</vt:lpstr>
      <vt:lpstr>Exemplo modelagem dirigida a eventos</vt:lpstr>
      <vt:lpstr>Diagrama de Estados </vt:lpstr>
      <vt:lpstr>Diagramas de Atividades</vt:lpstr>
      <vt:lpstr>Diagramas de Atividades</vt:lpstr>
      <vt:lpstr>Diagramas de Atividades</vt:lpstr>
      <vt:lpstr>Diagramas de Atividades</vt:lpstr>
      <vt:lpstr>Diagramas de Atividades</vt:lpstr>
      <vt:lpstr>Referências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Diagramas de Sistemas</dc:title>
  <dc:creator>Microsoft Office User</dc:creator>
  <cp:lastModifiedBy>Microsoft Office User</cp:lastModifiedBy>
  <cp:revision>20</cp:revision>
  <dcterms:created xsi:type="dcterms:W3CDTF">2023-09-28T20:45:22Z</dcterms:created>
  <dcterms:modified xsi:type="dcterms:W3CDTF">2023-10-31T18:51:23Z</dcterms:modified>
</cp:coreProperties>
</file>