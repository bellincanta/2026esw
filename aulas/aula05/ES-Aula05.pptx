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0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21"/>
  </p:normalViewPr>
  <p:slideViewPr>
    <p:cSldViewPr snapToGrid="0" snapToObjects="1">
      <p:cViewPr varScale="1">
        <p:scale>
          <a:sx n="99" d="100"/>
          <a:sy n="99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058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101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7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53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3419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8482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729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280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649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72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1990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5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9833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575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32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471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3E8F7-FB21-4645-9014-B4342E2A7DA4}" type="datetimeFigureOut">
              <a:rPr lang="pt-BR" smtClean="0"/>
              <a:t>22/09/2023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6177389-8062-274A-B9D2-60428FA9F91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049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B4308-A0AE-C844-A081-177DF3BFD3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Conceitos Básicos de Orientação a Objetos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44872-2432-454D-9608-23F33BD720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Nelson Bellincanta Filho</a:t>
            </a:r>
          </a:p>
        </p:txBody>
      </p:sp>
    </p:spTree>
    <p:extLst>
      <p:ext uri="{BB962C8B-B14F-4D97-AF65-F5344CB8AC3E}">
        <p14:creationId xmlns:p14="http://schemas.microsoft.com/office/powerpoint/2010/main" val="4237991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4FCB2-EC73-FF4D-B790-C0D6F6B0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937721" cy="1320800"/>
          </a:xfrm>
        </p:spPr>
        <p:txBody>
          <a:bodyPr/>
          <a:lstStyle/>
          <a:p>
            <a:r>
              <a:rPr lang="pt-BR" dirty="0"/>
              <a:t>Conceitos Básicos de Orientação a Objetos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86ADD-1F28-1742-AE06-0A70698AA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dirty="0"/>
              <a:t>A UML é totalmente baseada no paradigma de Orientação a Objetos (OO);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Orientação a Objetos (OO) é uma técnica de programação baseada na construção e utilização de objetos;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construção de sistemas OO é muito eficiente, pois a delimitação das responsabilidades dos objetos permite que suas classes sejam utilizadas em diferentes situações (</a:t>
            </a:r>
            <a:r>
              <a:rPr lang="pt-BR" dirty="0" err="1"/>
              <a:t>reusabilidade</a:t>
            </a:r>
            <a:r>
              <a:rPr lang="pt-BR" dirty="0"/>
              <a:t>);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manutenção do código é simplificada, pois, dependendo da qualidade do projeto, podem ser feitas modificações em elementos específicos sem que isso implique alterações nas demais partes do sistema.</a:t>
            </a:r>
          </a:p>
        </p:txBody>
      </p:sp>
    </p:spTree>
    <p:extLst>
      <p:ext uri="{BB962C8B-B14F-4D97-AF65-F5344CB8AC3E}">
        <p14:creationId xmlns:p14="http://schemas.microsoft.com/office/powerpoint/2010/main" val="2189036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D0AAAB0-D9B2-334D-AE2D-F89D2513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F37EE1-65BD-7C4B-9572-A3BA75B39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4213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C6D1F0-822A-674A-A9B0-1D3F4323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809556-6215-344A-BC46-03E8D9F77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Um objeto é qualquer coisa, em forma concreta ou abstrata, que exista física ou apenas conceitualmente no mundo real;</a:t>
            </a:r>
          </a:p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Os objetos possuem estados (conjunto de propriedades do objeto, características) e comportamentos (as ações possíveis sobre o objeto).</a:t>
            </a:r>
          </a:p>
        </p:txBody>
      </p:sp>
    </p:spTree>
    <p:extLst>
      <p:ext uri="{BB962C8B-B14F-4D97-AF65-F5344CB8AC3E}">
        <p14:creationId xmlns:p14="http://schemas.microsoft.com/office/powerpoint/2010/main" val="1782869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Caneta hidrográfica Fine Pen 0.4mm preto FPB/PRZF - Faber-Castell">
            <a:extLst>
              <a:ext uri="{FF2B5EF4-FFF2-40B4-BE49-F238E27FC236}">
                <a16:creationId xmlns:a16="http://schemas.microsoft.com/office/drawing/2014/main" id="{CCD99D37-F4A4-A54F-9C45-BED3D86DC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665" y="3468115"/>
            <a:ext cx="3156910" cy="3156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5DCF6C8-57BD-124B-9973-895EB9C53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966" y="2138380"/>
            <a:ext cx="4248727" cy="424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BC6D1F0-822A-674A-A9B0-1D3F4323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B77B8F-9BF0-AF4C-A46E-243B032FE1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19" y="1939276"/>
            <a:ext cx="2979448" cy="297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EED43A-DC37-9E46-9E45-50D9B7405E5F}"/>
              </a:ext>
            </a:extLst>
          </p:cNvPr>
          <p:cNvSpPr txBox="1"/>
          <p:nvPr/>
        </p:nvSpPr>
        <p:spPr>
          <a:xfrm>
            <a:off x="2731615" y="1570730"/>
            <a:ext cx="257955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Estado: </a:t>
            </a:r>
          </a:p>
          <a:p>
            <a:endParaRPr lang="pt-BR" dirty="0"/>
          </a:p>
          <a:p>
            <a:r>
              <a:rPr lang="pt-BR" dirty="0"/>
              <a:t>	Esferográfica azul;</a:t>
            </a:r>
          </a:p>
          <a:p>
            <a:r>
              <a:rPr lang="pt-BR" dirty="0"/>
              <a:t>	Ponta grossa.</a:t>
            </a:r>
          </a:p>
          <a:p>
            <a:endParaRPr lang="pt-BR" dirty="0"/>
          </a:p>
          <a:p>
            <a:r>
              <a:rPr lang="pt-BR" dirty="0"/>
              <a:t>Comportamento:</a:t>
            </a:r>
          </a:p>
          <a:p>
            <a:r>
              <a:rPr lang="pt-BR" dirty="0"/>
              <a:t>	Escrever;</a:t>
            </a:r>
          </a:p>
          <a:p>
            <a:r>
              <a:rPr lang="pt-BR" dirty="0"/>
              <a:t>	Desenhar.	</a:t>
            </a:r>
          </a:p>
          <a:p>
            <a:r>
              <a:rPr lang="pt-BR" dirty="0"/>
              <a:t>		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1E94F-F1E2-124A-8709-2805880370F2}"/>
              </a:ext>
            </a:extLst>
          </p:cNvPr>
          <p:cNvSpPr txBox="1"/>
          <p:nvPr/>
        </p:nvSpPr>
        <p:spPr>
          <a:xfrm>
            <a:off x="5711063" y="2274838"/>
            <a:ext cx="271260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Estado: </a:t>
            </a:r>
          </a:p>
          <a:p>
            <a:endParaRPr lang="pt-BR" dirty="0"/>
          </a:p>
          <a:p>
            <a:r>
              <a:rPr lang="pt-BR" dirty="0"/>
              <a:t>	Esferográfica preta;</a:t>
            </a:r>
          </a:p>
          <a:p>
            <a:r>
              <a:rPr lang="pt-BR" dirty="0"/>
              <a:t>	Ponta grossa.</a:t>
            </a:r>
          </a:p>
          <a:p>
            <a:endParaRPr lang="pt-BR" dirty="0"/>
          </a:p>
          <a:p>
            <a:r>
              <a:rPr lang="pt-BR" dirty="0"/>
              <a:t>Comportamento:</a:t>
            </a:r>
          </a:p>
          <a:p>
            <a:r>
              <a:rPr lang="pt-BR" dirty="0"/>
              <a:t>	Escrever;</a:t>
            </a:r>
          </a:p>
          <a:p>
            <a:r>
              <a:rPr lang="pt-BR" dirty="0"/>
              <a:t>	Desenhar.</a:t>
            </a:r>
          </a:p>
          <a:p>
            <a:endParaRPr lang="pt-BR" dirty="0"/>
          </a:p>
          <a:p>
            <a:r>
              <a:rPr lang="pt-BR" dirty="0"/>
              <a:t>		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CFDB4F-39BB-FA42-9259-127791AF6C8E}"/>
              </a:ext>
            </a:extLst>
          </p:cNvPr>
          <p:cNvSpPr txBox="1"/>
          <p:nvPr/>
        </p:nvSpPr>
        <p:spPr>
          <a:xfrm>
            <a:off x="9306289" y="3108581"/>
            <a:ext cx="262924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Estado: </a:t>
            </a:r>
          </a:p>
          <a:p>
            <a:endParaRPr lang="pt-BR" dirty="0"/>
          </a:p>
          <a:p>
            <a:r>
              <a:rPr lang="pt-BR" dirty="0"/>
              <a:t>	Hidrográfica preta;</a:t>
            </a:r>
          </a:p>
          <a:p>
            <a:r>
              <a:rPr lang="pt-BR" dirty="0"/>
              <a:t>	Ponta fina.</a:t>
            </a:r>
          </a:p>
          <a:p>
            <a:endParaRPr lang="pt-BR" dirty="0"/>
          </a:p>
          <a:p>
            <a:r>
              <a:rPr lang="pt-BR" dirty="0"/>
              <a:t>Comportamento:</a:t>
            </a:r>
          </a:p>
          <a:p>
            <a:r>
              <a:rPr lang="pt-BR" dirty="0"/>
              <a:t>	Escrever;</a:t>
            </a:r>
          </a:p>
          <a:p>
            <a:r>
              <a:rPr lang="pt-BR" dirty="0"/>
              <a:t>	Desenhar.</a:t>
            </a:r>
          </a:p>
          <a:p>
            <a:r>
              <a:rPr lang="pt-BR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99148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C6D1F0-822A-674A-A9B0-1D3F4323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809556-6215-344A-BC46-03E8D9F77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Um conceito fundamental na OO é que todo objeto é de um tipo específico, ou seja, pertence a uma classe (</a:t>
            </a:r>
            <a:r>
              <a:rPr lang="pt-BR" dirty="0" err="1"/>
              <a:t>class</a:t>
            </a:r>
            <a:r>
              <a:rPr lang="pt-BR" dirty="0"/>
              <a:t>) ou categoria particular de objetos, cuja determinação é o que chamamos de classificação;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Na programação OO, a criação e utilização de objetos requer modelos para descrevê-los.</a:t>
            </a:r>
          </a:p>
        </p:txBody>
      </p:sp>
    </p:spTree>
    <p:extLst>
      <p:ext uri="{BB962C8B-B14F-4D97-AF65-F5344CB8AC3E}">
        <p14:creationId xmlns:p14="http://schemas.microsoft.com/office/powerpoint/2010/main" val="1659944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D0AAAB0-D9B2-334D-AE2D-F89D2513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F37EE1-65BD-7C4B-9572-A3BA75B39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7722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3D9800-4299-FC41-83EB-9032510D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96638D-AB8A-3B4A-A5D3-6ABB387E1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r>
              <a:rPr lang="pt-BR" dirty="0"/>
              <a:t>Modelo utilizado para definir um novo tipo de objeto, que relaciona seus atributos (características e estados) e seus comportamentos (funcionalidades), podendo representar uma entidade real ou abstrata;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Abstração de um conjunto de objetos que possuem os mesmos tipos de características e comportamentos, sendo representada na UML por um retângulo que pode ter até três divisões. </a:t>
            </a:r>
          </a:p>
        </p:txBody>
      </p:sp>
    </p:spTree>
    <p:extLst>
      <p:ext uri="{BB962C8B-B14F-4D97-AF65-F5344CB8AC3E}">
        <p14:creationId xmlns:p14="http://schemas.microsoft.com/office/powerpoint/2010/main" val="839983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3D9800-4299-FC41-83EB-9032510D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CD62AF1-A116-D34E-AE88-92FA62143F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4864178"/>
              </p:ext>
            </p:extLst>
          </p:nvPr>
        </p:nvGraphicFramePr>
        <p:xfrm>
          <a:off x="6096000" y="2145268"/>
          <a:ext cx="3054668" cy="1712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4668">
                  <a:extLst>
                    <a:ext uri="{9D8B030D-6E8A-4147-A177-3AD203B41FA5}">
                      <a16:colId xmlns:a16="http://schemas.microsoft.com/office/drawing/2014/main" val="2198550775"/>
                    </a:ext>
                  </a:extLst>
                </a:gridCol>
              </a:tblGrid>
              <a:tr h="422804"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NomeClasse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10438"/>
                  </a:ext>
                </a:extLst>
              </a:tr>
              <a:tr h="422804">
                <a:tc>
                  <a:txBody>
                    <a:bodyPr/>
                    <a:lstStyle/>
                    <a:p>
                      <a:endParaRPr lang="pt-BR" dirty="0"/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450140"/>
                  </a:ext>
                </a:extLst>
              </a:tr>
              <a:tr h="649791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041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211A535-EA70-1B45-A18D-1C46A4D54FE7}"/>
              </a:ext>
            </a:extLst>
          </p:cNvPr>
          <p:cNvSpPr txBox="1"/>
          <p:nvPr/>
        </p:nvSpPr>
        <p:spPr>
          <a:xfrm>
            <a:off x="220133" y="2145268"/>
            <a:ext cx="50354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 primeira divisão armazena o nome da classe,</a:t>
            </a:r>
          </a:p>
          <a:p>
            <a:endParaRPr lang="pt-BR" dirty="0"/>
          </a:p>
          <a:p>
            <a:r>
              <a:rPr lang="pt-BR" dirty="0"/>
              <a:t>a segunda, os atributos (características),</a:t>
            </a:r>
          </a:p>
          <a:p>
            <a:endParaRPr lang="pt-BR" dirty="0"/>
          </a:p>
          <a:p>
            <a:r>
              <a:rPr lang="pt-BR" dirty="0"/>
              <a:t>enquanto a terceira carrega os métodos.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415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3D9800-4299-FC41-83EB-9032510D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96638D-AB8A-3B4A-A5D3-6ABB387E1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De acordo com Melo (2004), o momento inicial para a identificação de classes em um documento de requisitos é assinalar os substantivos;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Esses substantivos podem levar a objetos físicos (cliente, livro, computador) ou objetos conceituais (reserva, cronograma, norma);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Em seguida, é preciso identificar somente os objetos que possuem importância para o sistema, verificando o que realmente consiste em ser objeto e o que consiste em ser atributo;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5425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3D9800-4299-FC41-83EB-9032510D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96638D-AB8A-3B4A-A5D3-6ABB387E1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Ainda, é preciso fazer uma nova análise dos requisitos para identificar as classes implícitas no contexto trabalhado, excluir classes parecidas ou juntar duas classes em uma única classe;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Esse processo será iterativo e não será possível definir todas as classes de uma só vez.</a:t>
            </a:r>
          </a:p>
        </p:txBody>
      </p:sp>
    </p:spTree>
    <p:extLst>
      <p:ext uri="{BB962C8B-B14F-4D97-AF65-F5344CB8AC3E}">
        <p14:creationId xmlns:p14="http://schemas.microsoft.com/office/powerpoint/2010/main" val="3435205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3D9800-4299-FC41-83EB-9032510D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- Atributos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96638D-AB8A-3B4A-A5D3-6ABB387E1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Uma classe, normalmente, possui atributos que representam as suas características;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Cada atributo deve possuir um nome e, eventualmente, o tipo de dado que armazena, por exemplo, </a:t>
            </a:r>
            <a:r>
              <a:rPr lang="pt-BR" dirty="0" err="1"/>
              <a:t>integer</a:t>
            </a:r>
            <a:r>
              <a:rPr lang="pt-BR" dirty="0"/>
              <a:t>, float ou char;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Assim, a classe especifica a estrutura de um objeto sem informar quais serão os seus valores. </a:t>
            </a:r>
          </a:p>
        </p:txBody>
      </p:sp>
    </p:spTree>
    <p:extLst>
      <p:ext uri="{BB962C8B-B14F-4D97-AF65-F5344CB8AC3E}">
        <p14:creationId xmlns:p14="http://schemas.microsoft.com/office/powerpoint/2010/main" val="3102309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3D9800-4299-FC41-83EB-9032510D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- Atributos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96638D-AB8A-3B4A-A5D3-6ABB387E1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Uma classe, normalmente, possui atributos que representam as suas características;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Cada atributo deve possuir um nome e, eventualmente, o tipo de dado que armazena, por exemplo, </a:t>
            </a:r>
            <a:r>
              <a:rPr lang="pt-BR" dirty="0" err="1"/>
              <a:t>integer</a:t>
            </a:r>
            <a:r>
              <a:rPr lang="pt-BR" dirty="0"/>
              <a:t>, float ou char;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Assim, a classe especifica a estrutura de um objeto sem informar quais serão os seus valores;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Em relação ao objeto, este corresponde a uma instância de uma classe em um determinado momento. </a:t>
            </a:r>
          </a:p>
        </p:txBody>
      </p:sp>
    </p:spTree>
    <p:extLst>
      <p:ext uri="{BB962C8B-B14F-4D97-AF65-F5344CB8AC3E}">
        <p14:creationId xmlns:p14="http://schemas.microsoft.com/office/powerpoint/2010/main" val="4197253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3D9800-4299-FC41-83EB-9032510D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- Atributos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96638D-AB8A-3B4A-A5D3-6ABB387E1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1659467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Uma classe pessoa possui os atributos nome, sexo e data de nascimento.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Essa classe pode ter um objeto ou instância com os seguintes valores para cada atributo, respectivamente: Fulana, feminino e 22/03/1969.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Dessa forma, em um sistema, devemos trabalhar com as instâncias (objetos) de uma classe, pois os valores de cada atributo são carregados nas instâncias.</a:t>
            </a: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3C783E45-17D6-E740-8828-A5BCCBB25E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3443770"/>
              </p:ext>
            </p:extLst>
          </p:nvPr>
        </p:nvGraphicFramePr>
        <p:xfrm>
          <a:off x="3448334" y="4409582"/>
          <a:ext cx="3054668" cy="22613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4668">
                  <a:extLst>
                    <a:ext uri="{9D8B030D-6E8A-4147-A177-3AD203B41FA5}">
                      <a16:colId xmlns:a16="http://schemas.microsoft.com/office/drawing/2014/main" val="2198550775"/>
                    </a:ext>
                  </a:extLst>
                </a:gridCol>
              </a:tblGrid>
              <a:tr h="422804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10438"/>
                  </a:ext>
                </a:extLst>
              </a:tr>
              <a:tr h="422804">
                <a:tc>
                  <a:txBody>
                    <a:bodyPr/>
                    <a:lstStyle/>
                    <a:p>
                      <a:r>
                        <a:rPr lang="pt-BR" dirty="0"/>
                        <a:t>-nome: </a:t>
                      </a:r>
                      <a:r>
                        <a:rPr lang="pt-BR" dirty="0" err="1"/>
                        <a:t>string</a:t>
                      </a:r>
                      <a:endParaRPr lang="pt-BR" dirty="0"/>
                    </a:p>
                    <a:p>
                      <a:r>
                        <a:rPr lang="pt-BR" dirty="0"/>
                        <a:t>-sexo: char</a:t>
                      </a:r>
                    </a:p>
                    <a:p>
                      <a:r>
                        <a:rPr lang="pt-BR" dirty="0"/>
                        <a:t>-</a:t>
                      </a:r>
                      <a:r>
                        <a:rPr lang="pt-BR" dirty="0" err="1"/>
                        <a:t>data_nascimento</a:t>
                      </a:r>
                      <a:r>
                        <a:rPr lang="pt-BR" dirty="0"/>
                        <a:t>: date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450140"/>
                  </a:ext>
                </a:extLst>
              </a:tr>
              <a:tr h="649791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04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08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3D9800-4299-FC41-83EB-9032510D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- Métodos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96638D-AB8A-3B4A-A5D3-6ABB387E1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Métodos são processos ou serviços realizados por uma classe e disponibilizados para uso de outras classes em um sistema;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Os métodos são as atividades que uma instância de uma classe pode executar;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 método pode receber, ou não, parâmetros (valores que são utilizados durante a execução do método);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Também, pode retornar valores, os quais podem representar o resultado da operação executada ou somente indicar se o processo foi concluído com sucesso.</a:t>
            </a:r>
          </a:p>
        </p:txBody>
      </p:sp>
    </p:spTree>
    <p:extLst>
      <p:ext uri="{BB962C8B-B14F-4D97-AF65-F5344CB8AC3E}">
        <p14:creationId xmlns:p14="http://schemas.microsoft.com/office/powerpoint/2010/main" val="746021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3D9800-4299-FC41-83EB-9032510D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- Métodos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96638D-AB8A-3B4A-A5D3-6ABB387E1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1659467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Um método representa um conjunto de instruções que são executadas quando o método é chamado;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 objeto da classe Cliente, por exemplo, pode executar a atividade de incluir novo cliente.</a:t>
            </a: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3C783E45-17D6-E740-8828-A5BCCBB25E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670154"/>
              </p:ext>
            </p:extLst>
          </p:nvPr>
        </p:nvGraphicFramePr>
        <p:xfrm>
          <a:off x="3448334" y="3796943"/>
          <a:ext cx="3054668" cy="22613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4668">
                  <a:extLst>
                    <a:ext uri="{9D8B030D-6E8A-4147-A177-3AD203B41FA5}">
                      <a16:colId xmlns:a16="http://schemas.microsoft.com/office/drawing/2014/main" val="2198550775"/>
                    </a:ext>
                  </a:extLst>
                </a:gridCol>
              </a:tblGrid>
              <a:tr h="422804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10438"/>
                  </a:ext>
                </a:extLst>
              </a:tr>
              <a:tr h="422804">
                <a:tc>
                  <a:txBody>
                    <a:bodyPr/>
                    <a:lstStyle/>
                    <a:p>
                      <a:r>
                        <a:rPr lang="pt-BR" dirty="0"/>
                        <a:t>-nome: </a:t>
                      </a:r>
                      <a:r>
                        <a:rPr lang="pt-BR" dirty="0" err="1"/>
                        <a:t>string</a:t>
                      </a:r>
                      <a:endParaRPr lang="pt-BR" dirty="0"/>
                    </a:p>
                    <a:p>
                      <a:r>
                        <a:rPr lang="pt-BR" dirty="0"/>
                        <a:t>-sexo: char</a:t>
                      </a:r>
                    </a:p>
                    <a:p>
                      <a:r>
                        <a:rPr lang="pt-BR" dirty="0"/>
                        <a:t>-</a:t>
                      </a:r>
                      <a:r>
                        <a:rPr lang="pt-BR" dirty="0" err="1"/>
                        <a:t>data_nascimento</a:t>
                      </a:r>
                      <a:r>
                        <a:rPr lang="pt-BR" dirty="0"/>
                        <a:t>: date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450140"/>
                  </a:ext>
                </a:extLst>
              </a:tr>
              <a:tr h="649791">
                <a:tc>
                  <a:txBody>
                    <a:bodyPr/>
                    <a:lstStyle/>
                    <a:p>
                      <a:r>
                        <a:rPr lang="pt-BR" dirty="0"/>
                        <a:t>+</a:t>
                      </a:r>
                      <a:r>
                        <a:rPr lang="pt-BR" dirty="0" err="1"/>
                        <a:t>incluirNovoCliente</a:t>
                      </a:r>
                      <a:r>
                        <a:rPr lang="pt-BR" dirty="0"/>
                        <a:t>(): </a:t>
                      </a:r>
                      <a:r>
                        <a:rPr lang="pt-BR" dirty="0" err="1"/>
                        <a:t>void</a:t>
                      </a:r>
                      <a:endParaRPr lang="pt-BR" dirty="0"/>
                    </a:p>
                    <a:p>
                      <a:r>
                        <a:rPr lang="pt-BR" dirty="0"/>
                        <a:t>+</a:t>
                      </a:r>
                      <a:r>
                        <a:rPr lang="pt-BR" dirty="0" err="1"/>
                        <a:t>atualizarCliente</a:t>
                      </a:r>
                      <a:r>
                        <a:rPr lang="pt-BR" dirty="0"/>
                        <a:t>(): </a:t>
                      </a:r>
                      <a:r>
                        <a:rPr lang="pt-BR" dirty="0" err="1"/>
                        <a:t>void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04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941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3D9800-4299-FC41-83EB-9032510D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- Visibilidade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96638D-AB8A-3B4A-A5D3-6ABB387E1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A visibilidade é um símbolo que antecede um atributo ou método e é utilizada para indicar o seu nível de acessibilidade;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Existem, basicamente, três modos de visibilidade: o público, o protegido e o privado.</a:t>
            </a: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AD5E7051-68E7-F143-B961-285A4F52B7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5717052"/>
              </p:ext>
            </p:extLst>
          </p:nvPr>
        </p:nvGraphicFramePr>
        <p:xfrm>
          <a:off x="3448334" y="3987085"/>
          <a:ext cx="3054668" cy="22613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4668">
                  <a:extLst>
                    <a:ext uri="{9D8B030D-6E8A-4147-A177-3AD203B41FA5}">
                      <a16:colId xmlns:a16="http://schemas.microsoft.com/office/drawing/2014/main" val="2198550775"/>
                    </a:ext>
                  </a:extLst>
                </a:gridCol>
              </a:tblGrid>
              <a:tr h="422804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10438"/>
                  </a:ext>
                </a:extLst>
              </a:tr>
              <a:tr h="422804">
                <a:tc>
                  <a:txBody>
                    <a:bodyPr/>
                    <a:lstStyle/>
                    <a:p>
                      <a:r>
                        <a:rPr lang="pt-BR" dirty="0"/>
                        <a:t>-nome: </a:t>
                      </a:r>
                      <a:r>
                        <a:rPr lang="pt-BR" dirty="0" err="1"/>
                        <a:t>string</a:t>
                      </a:r>
                      <a:endParaRPr lang="pt-BR" dirty="0"/>
                    </a:p>
                    <a:p>
                      <a:r>
                        <a:rPr lang="pt-BR" dirty="0"/>
                        <a:t>-sexo: char</a:t>
                      </a:r>
                    </a:p>
                    <a:p>
                      <a:r>
                        <a:rPr lang="pt-BR" dirty="0"/>
                        <a:t>-</a:t>
                      </a:r>
                      <a:r>
                        <a:rPr lang="pt-BR" dirty="0" err="1"/>
                        <a:t>data_nascimento</a:t>
                      </a:r>
                      <a:r>
                        <a:rPr lang="pt-BR" dirty="0"/>
                        <a:t>: date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450140"/>
                  </a:ext>
                </a:extLst>
              </a:tr>
              <a:tr h="649791">
                <a:tc>
                  <a:txBody>
                    <a:bodyPr/>
                    <a:lstStyle/>
                    <a:p>
                      <a:r>
                        <a:rPr lang="pt-BR" dirty="0"/>
                        <a:t>+</a:t>
                      </a:r>
                      <a:r>
                        <a:rPr lang="pt-BR" dirty="0" err="1"/>
                        <a:t>incluirNovoCliente</a:t>
                      </a:r>
                      <a:r>
                        <a:rPr lang="pt-BR" dirty="0"/>
                        <a:t>(): </a:t>
                      </a:r>
                      <a:r>
                        <a:rPr lang="pt-BR" dirty="0" err="1"/>
                        <a:t>void</a:t>
                      </a:r>
                      <a:endParaRPr lang="pt-BR" dirty="0"/>
                    </a:p>
                    <a:p>
                      <a:r>
                        <a:rPr lang="pt-BR" dirty="0"/>
                        <a:t>+</a:t>
                      </a:r>
                      <a:r>
                        <a:rPr lang="pt-BR" dirty="0" err="1"/>
                        <a:t>atualizarCliente</a:t>
                      </a:r>
                      <a:r>
                        <a:rPr lang="pt-BR" dirty="0"/>
                        <a:t>(): </a:t>
                      </a:r>
                      <a:r>
                        <a:rPr lang="pt-BR" dirty="0" err="1"/>
                        <a:t>void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04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150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3D9800-4299-FC41-83EB-9032510D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- Visibilidade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96638D-AB8A-3B4A-A5D3-6ABB387E1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O símbolo de mais (+) indica visibilidade pública, ou seja, significa que o atributo ou método pode ser utilizado por objetos de qualquer classe;</a:t>
            </a:r>
          </a:p>
          <a:p>
            <a:pPr algn="just"/>
            <a:r>
              <a:rPr lang="pt-BR" dirty="0"/>
              <a:t>O símbolo de sustenido (#) indica que a visibilidade é protegida, ou seja, determina que apenas objetos da classe possuidora do atributo ou método ou de suas subclasses podem acessá-lo.</a:t>
            </a:r>
          </a:p>
          <a:p>
            <a:pPr algn="just"/>
            <a:r>
              <a:rPr lang="pt-BR" dirty="0"/>
              <a:t>O símbolo de menos (-) indica que a visibilidade é privada, ou seja, somente os objetos da classe possuidora do atributo ou método poderão utilizá-lo.</a:t>
            </a: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AD5E7051-68E7-F143-B961-285A4F52B7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3773493"/>
              </p:ext>
            </p:extLst>
          </p:nvPr>
        </p:nvGraphicFramePr>
        <p:xfrm>
          <a:off x="3448334" y="4291885"/>
          <a:ext cx="3054668" cy="22613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4668">
                  <a:extLst>
                    <a:ext uri="{9D8B030D-6E8A-4147-A177-3AD203B41FA5}">
                      <a16:colId xmlns:a16="http://schemas.microsoft.com/office/drawing/2014/main" val="2198550775"/>
                    </a:ext>
                  </a:extLst>
                </a:gridCol>
              </a:tblGrid>
              <a:tr h="422804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Cliente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410438"/>
                  </a:ext>
                </a:extLst>
              </a:tr>
              <a:tr h="422804">
                <a:tc>
                  <a:txBody>
                    <a:bodyPr/>
                    <a:lstStyle/>
                    <a:p>
                      <a:r>
                        <a:rPr lang="pt-BR" dirty="0"/>
                        <a:t>-nome: </a:t>
                      </a:r>
                      <a:r>
                        <a:rPr lang="pt-BR" dirty="0" err="1"/>
                        <a:t>string</a:t>
                      </a:r>
                      <a:endParaRPr lang="pt-BR" dirty="0"/>
                    </a:p>
                    <a:p>
                      <a:r>
                        <a:rPr lang="pt-BR" dirty="0"/>
                        <a:t>-sexo: char</a:t>
                      </a:r>
                    </a:p>
                    <a:p>
                      <a:r>
                        <a:rPr lang="pt-BR" dirty="0"/>
                        <a:t>-</a:t>
                      </a:r>
                      <a:r>
                        <a:rPr lang="pt-BR" dirty="0" err="1"/>
                        <a:t>data_nascimento</a:t>
                      </a:r>
                      <a:r>
                        <a:rPr lang="pt-BR" dirty="0"/>
                        <a:t>: date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450140"/>
                  </a:ext>
                </a:extLst>
              </a:tr>
              <a:tr h="649791">
                <a:tc>
                  <a:txBody>
                    <a:bodyPr/>
                    <a:lstStyle/>
                    <a:p>
                      <a:r>
                        <a:rPr lang="pt-BR" dirty="0"/>
                        <a:t>+</a:t>
                      </a:r>
                      <a:r>
                        <a:rPr lang="pt-BR" dirty="0" err="1"/>
                        <a:t>incluirNovoCliente</a:t>
                      </a:r>
                      <a:r>
                        <a:rPr lang="pt-BR" dirty="0"/>
                        <a:t>(): </a:t>
                      </a:r>
                      <a:r>
                        <a:rPr lang="pt-BR" dirty="0" err="1"/>
                        <a:t>void</a:t>
                      </a:r>
                      <a:endParaRPr lang="pt-BR" dirty="0"/>
                    </a:p>
                    <a:p>
                      <a:r>
                        <a:rPr lang="pt-BR" dirty="0"/>
                        <a:t>+</a:t>
                      </a:r>
                      <a:r>
                        <a:rPr lang="pt-BR" dirty="0" err="1"/>
                        <a:t>atualizarCliente</a:t>
                      </a:r>
                      <a:r>
                        <a:rPr lang="pt-BR" dirty="0"/>
                        <a:t>(): </a:t>
                      </a:r>
                      <a:r>
                        <a:rPr lang="pt-BR" dirty="0" err="1"/>
                        <a:t>void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04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66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02BC2-28B4-B74A-ABAB-0A084D2FF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Herança (Generalização/Especialização)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95491-108B-1C4D-BEAE-FCF0BF2A3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685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1B8D31-7C41-D746-8C56-4AB90839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Herança (Generalização/Especialização)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8C4E23-5957-624E-90F6-E91248FAD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pt-BR" dirty="0"/>
          </a:p>
          <a:p>
            <a:pPr algn="just"/>
            <a:r>
              <a:rPr lang="pt-BR" dirty="0"/>
              <a:t>A herança permite que as classes de um sistema compartilhem atributos e métodos, otimizando, assim, o tempo de desenvolvimento, com a diminuição de linhas de código, facilitando futuras manutenções;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herança (ou generalização/especialização) acontece entre classes gerais (chamadas de superclasses ou classes-mãe) e classes específicas (chamadas de subclasses ou classes-filha);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1960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1B8D31-7C41-D746-8C56-4AB90839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Herança (Generalização/Especialização)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8C4E23-5957-624E-90F6-E91248FAD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A herança significa que os objetos da subclasse podem ser utilizados em qualquer local em que a superclasse ocorra, mas não vice-versa;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subclasse herda as propriedades da mãe, ou seja, seus atributos e métodos, bem como pode possuir atributos e métodos próprios, além dos herdados;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De acordo com Guedes (2007), a vantagem do uso da herança é que, quando uma classe é declarada com seus atributos e métodos específicos e, após isso, uma subclasse é derivada, não é necessário redeclarar os atributos e métodos já definidos.</a:t>
            </a:r>
          </a:p>
        </p:txBody>
      </p:sp>
    </p:spTree>
    <p:extLst>
      <p:ext uri="{BB962C8B-B14F-4D97-AF65-F5344CB8AC3E}">
        <p14:creationId xmlns:p14="http://schemas.microsoft.com/office/powerpoint/2010/main" val="3367434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1B8D31-7C41-D746-8C56-4AB90839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Herança (Generalização/Especialização)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C33B81A-86FD-A145-B4AC-EEFBB7AAE1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620" y="1649186"/>
            <a:ext cx="4504648" cy="4756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38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911F80-1795-734B-8EE9-083F7AED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Polimorfismo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BCCB77-DBA8-A243-B5D5-39C024A44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94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53CBBF-6F82-EE4B-A37A-750C23F66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Polimorfismo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49FBBF-DC07-0244-B7DA-4E018CF5C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/>
              <a:t>O conceito de polimorfismo está associado com a herança, pois trabalha com a </a:t>
            </a:r>
            <a:r>
              <a:rPr lang="pt-BR" dirty="0" err="1"/>
              <a:t>redeclaração</a:t>
            </a:r>
            <a:r>
              <a:rPr lang="pt-BR" dirty="0"/>
              <a:t> de métodos previamente herdados por uma classe;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Esses métodos, embora parecidos, diferem-se, de alguma forma, da implementação utilizada na superclasse, sendo preciso implementá-los novamente na subclasse;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Polimorfismo é o princípio em que classes derivadas (as subclasses) e uma mesma superclasse podem chamar métodos que têm o mesmo nome (ou a mesma assinatura), mas que possuem comportamentos diferentes em cada subclasse, produzindo resultados diferentes, dependendo de como cada objeto implementa o método.</a:t>
            </a:r>
          </a:p>
        </p:txBody>
      </p:sp>
    </p:spTree>
    <p:extLst>
      <p:ext uri="{BB962C8B-B14F-4D97-AF65-F5344CB8AC3E}">
        <p14:creationId xmlns:p14="http://schemas.microsoft.com/office/powerpoint/2010/main" val="2130901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53CBBF-6F82-EE4B-A37A-750C23F66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Polimorfismo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62C3AAD-3677-A64E-8982-D61CAEF559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964" y="1433206"/>
            <a:ext cx="5231036" cy="526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121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1DD1-F4C1-D447-849C-E7B23D206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8E436-5530-6B41-B6A9-733FE51B3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pt-BR" dirty="0"/>
              <a:t>ERICKSON, John; SIAU, </a:t>
            </a:r>
            <a:r>
              <a:rPr lang="pt-BR" dirty="0" err="1"/>
              <a:t>Keng</a:t>
            </a:r>
            <a:r>
              <a:rPr lang="pt-BR" dirty="0"/>
              <a:t>. </a:t>
            </a:r>
            <a:r>
              <a:rPr lang="pt-BR" b="1" dirty="0" err="1"/>
              <a:t>Can</a:t>
            </a:r>
            <a:r>
              <a:rPr lang="pt-BR" b="1" dirty="0"/>
              <a:t> UML Be </a:t>
            </a:r>
            <a:r>
              <a:rPr lang="pt-BR" b="1" dirty="0" err="1"/>
              <a:t>Simplified</a:t>
            </a:r>
            <a:r>
              <a:rPr lang="pt-BR" b="1" dirty="0"/>
              <a:t>? </a:t>
            </a:r>
            <a:r>
              <a:rPr lang="pt-BR" b="1" dirty="0" err="1"/>
              <a:t>Practitioner</a:t>
            </a:r>
            <a:r>
              <a:rPr lang="pt-BR" b="1" dirty="0"/>
              <a:t> Use of UML in </a:t>
            </a:r>
            <a:r>
              <a:rPr lang="pt-BR" b="1" dirty="0" err="1"/>
              <a:t>Separate</a:t>
            </a:r>
            <a:r>
              <a:rPr lang="pt-BR" b="1" dirty="0"/>
              <a:t> </a:t>
            </a:r>
            <a:r>
              <a:rPr lang="pt-BR" b="1" dirty="0" err="1"/>
              <a:t>Domains</a:t>
            </a:r>
            <a:r>
              <a:rPr lang="pt-BR" dirty="0"/>
              <a:t>. In: EMMSAD. 2007. p. 87-96..</a:t>
            </a:r>
          </a:p>
          <a:p>
            <a:pPr algn="just"/>
            <a:endParaRPr lang="pt-BR" dirty="0"/>
          </a:p>
          <a:p>
            <a:pPr algn="just"/>
            <a:r>
              <a:rPr lang="en-US" dirty="0"/>
              <a:t>PRESSMAN, Roger S.; MAXIM, Bruce R. </a:t>
            </a:r>
            <a:r>
              <a:rPr lang="en-US" b="1" dirty="0"/>
              <a:t> </a:t>
            </a:r>
            <a:r>
              <a:rPr lang="en-US" b="1" dirty="0" err="1"/>
              <a:t>Engenharia</a:t>
            </a:r>
            <a:r>
              <a:rPr lang="en-US" b="1" dirty="0"/>
              <a:t> de software : </a:t>
            </a:r>
            <a:r>
              <a:rPr lang="en-US" b="1" dirty="0" err="1"/>
              <a:t>uma</a:t>
            </a:r>
            <a:r>
              <a:rPr lang="en-US" b="1" dirty="0"/>
              <a:t> </a:t>
            </a:r>
            <a:r>
              <a:rPr lang="en-US" b="1" dirty="0" err="1"/>
              <a:t>abordagem</a:t>
            </a:r>
            <a:r>
              <a:rPr lang="en-US" b="1" dirty="0"/>
              <a:t> </a:t>
            </a:r>
            <a:r>
              <a:rPr lang="en-US" b="1" dirty="0" err="1"/>
              <a:t>profissional</a:t>
            </a:r>
            <a:r>
              <a:rPr lang="en-US" dirty="0"/>
              <a:t>. 8. ed. – Porto Alegre : AMGH, 2016.</a:t>
            </a:r>
            <a:endParaRPr lang="pt-BR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STAIR, Ralph M.; REYNOLDS, George W. </a:t>
            </a:r>
            <a:r>
              <a:rPr lang="en-US" b="1" dirty="0" err="1"/>
              <a:t>Princípios</a:t>
            </a:r>
            <a:r>
              <a:rPr lang="en-US" b="1" dirty="0"/>
              <a:t> de </a:t>
            </a:r>
            <a:r>
              <a:rPr lang="en-US" b="1" dirty="0" err="1"/>
              <a:t>Sistemas</a:t>
            </a:r>
            <a:r>
              <a:rPr lang="en-US" b="1" dirty="0"/>
              <a:t> de </a:t>
            </a:r>
            <a:r>
              <a:rPr lang="en-US" b="1" dirty="0" err="1"/>
              <a:t>Informação</a:t>
            </a:r>
            <a:r>
              <a:rPr lang="en-US" b="1" dirty="0"/>
              <a:t>. 11ª </a:t>
            </a:r>
            <a:r>
              <a:rPr lang="en-US" b="1" dirty="0" err="1"/>
              <a:t>edição</a:t>
            </a:r>
            <a:r>
              <a:rPr lang="en-US" b="1" dirty="0"/>
              <a:t>.</a:t>
            </a:r>
            <a:r>
              <a:rPr lang="en-US" dirty="0"/>
              <a:t> São Paulo: Cengage Learning, 2015.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SOMMERVILLE, Ian. </a:t>
            </a:r>
            <a:r>
              <a:rPr lang="en-US" b="1" dirty="0" err="1"/>
              <a:t>Engenharia</a:t>
            </a:r>
            <a:r>
              <a:rPr lang="en-US" b="1" dirty="0"/>
              <a:t> de Software</a:t>
            </a:r>
            <a:r>
              <a:rPr lang="en-US" dirty="0"/>
              <a:t>. 10ª </a:t>
            </a:r>
            <a:r>
              <a:rPr lang="en-US" dirty="0" err="1"/>
              <a:t>Edição</a:t>
            </a:r>
            <a:r>
              <a:rPr lang="en-US" dirty="0"/>
              <a:t>. 2018.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WAZLAWICK, R. S. </a:t>
            </a:r>
            <a:r>
              <a:rPr lang="en-US" b="1" dirty="0" err="1"/>
              <a:t>Análise</a:t>
            </a:r>
            <a:r>
              <a:rPr lang="en-US" b="1" dirty="0"/>
              <a:t> e </a:t>
            </a:r>
            <a:r>
              <a:rPr lang="en-US" b="1" dirty="0" err="1"/>
              <a:t>projeto</a:t>
            </a:r>
            <a:r>
              <a:rPr lang="en-US" b="1" dirty="0"/>
              <a:t> de </a:t>
            </a:r>
            <a:r>
              <a:rPr lang="en-US" b="1" dirty="0" err="1"/>
              <a:t>sistemas</a:t>
            </a:r>
            <a:r>
              <a:rPr lang="en-US" b="1" dirty="0"/>
              <a:t> de </a:t>
            </a:r>
            <a:r>
              <a:rPr lang="en-US" b="1" dirty="0" err="1"/>
              <a:t>informação</a:t>
            </a:r>
            <a:r>
              <a:rPr lang="en-US" b="1" dirty="0"/>
              <a:t> </a:t>
            </a:r>
            <a:r>
              <a:rPr lang="en-US" b="1" dirty="0" err="1"/>
              <a:t>orientados</a:t>
            </a:r>
            <a:r>
              <a:rPr lang="en-US" b="1" dirty="0"/>
              <a:t> a </a:t>
            </a:r>
            <a:r>
              <a:rPr lang="en-US" b="1" dirty="0" err="1"/>
              <a:t>objetos</a:t>
            </a:r>
            <a:r>
              <a:rPr lang="en-US" dirty="0"/>
              <a:t>. 2. ed. Rio de Janeiro: Elsevier, 2011. 330 p. (Série, SBC - </a:t>
            </a:r>
            <a:r>
              <a:rPr lang="en-US" dirty="0" err="1"/>
              <a:t>Sociedade</a:t>
            </a:r>
            <a:r>
              <a:rPr lang="en-US" dirty="0"/>
              <a:t> </a:t>
            </a:r>
            <a:r>
              <a:rPr lang="en-US" dirty="0" err="1"/>
              <a:t>Brasileira</a:t>
            </a:r>
            <a:r>
              <a:rPr lang="en-US" dirty="0"/>
              <a:t> de </a:t>
            </a:r>
            <a:r>
              <a:rPr lang="en-US" dirty="0" err="1"/>
              <a:t>Computação</a:t>
            </a:r>
            <a:r>
              <a:rPr lang="en-US" dirty="0"/>
              <a:t>). ISBN 8535239164 (broch.).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47042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{5161399E-A2D5-354F-86E2-9395345EE8A0}tf10001060</Template>
  <TotalTime>508</TotalTime>
  <Words>1487</Words>
  <Application>Microsoft Macintosh PowerPoint</Application>
  <PresentationFormat>Widescreen</PresentationFormat>
  <Paragraphs>172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Trebuchet MS</vt:lpstr>
      <vt:lpstr>Wingdings 3</vt:lpstr>
      <vt:lpstr>Facet</vt:lpstr>
      <vt:lpstr>Conceitos Básicos de Orientação a Objetos</vt:lpstr>
      <vt:lpstr>Conceitos Básicos de Orientação a Objetos</vt:lpstr>
      <vt:lpstr>Objetos</vt:lpstr>
      <vt:lpstr>OBJETOS</vt:lpstr>
      <vt:lpstr>OBJETOS</vt:lpstr>
      <vt:lpstr>OBJETOS</vt:lpstr>
      <vt:lpstr>Classes</vt:lpstr>
      <vt:lpstr>Classes</vt:lpstr>
      <vt:lpstr>Classes</vt:lpstr>
      <vt:lpstr>Classes</vt:lpstr>
      <vt:lpstr>Classes</vt:lpstr>
      <vt:lpstr>Classes - Atributos</vt:lpstr>
      <vt:lpstr>Classes - Atributos</vt:lpstr>
      <vt:lpstr>Classes - Atributos</vt:lpstr>
      <vt:lpstr>Classes - Métodos</vt:lpstr>
      <vt:lpstr>Classes - Métodos</vt:lpstr>
      <vt:lpstr>Classes - Visibilidade</vt:lpstr>
      <vt:lpstr>Classes - Visibilidade</vt:lpstr>
      <vt:lpstr>Herança (Generalização/Especialização)</vt:lpstr>
      <vt:lpstr>Herança (Generalização/Especialização)</vt:lpstr>
      <vt:lpstr>Herança (Generalização/Especialização)</vt:lpstr>
      <vt:lpstr>Herança (Generalização/Especialização)</vt:lpstr>
      <vt:lpstr>Polimorfismo</vt:lpstr>
      <vt:lpstr>Polimorfismo</vt:lpstr>
      <vt:lpstr>Polimorfismo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Conceitos Básicos de Orientação a Objetos</dc:title>
  <dc:creator>Microsoft Office User</dc:creator>
  <cp:lastModifiedBy>Microsoft Office User</cp:lastModifiedBy>
  <cp:revision>4</cp:revision>
  <dcterms:created xsi:type="dcterms:W3CDTF">2023-09-22T12:28:57Z</dcterms:created>
  <dcterms:modified xsi:type="dcterms:W3CDTF">2023-09-22T20:57:25Z</dcterms:modified>
</cp:coreProperties>
</file>